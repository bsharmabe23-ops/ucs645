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libri (MS) Bold" charset="1" panose="020F0702030404030204"/>
      <p:regular r:id="rId22"/>
    </p:embeddedFont>
    <p:embeddedFont>
      <p:font typeface="Calibri (MS)" charset="1" panose="020F0502020204030204"/>
      <p:regular r:id="rId23"/>
    </p:embeddedFont>
    <p:embeddedFont>
      <p:font typeface="Calibri (MS) Italics" charset="1" panose="020F05020202040A0204"/>
      <p:regular r:id="rId24"/>
    </p:embeddedFont>
    <p:embeddedFont>
      <p:font typeface="Consolas" charset="1" panose="020B06090202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86183" y="-12697"/>
            <a:ext cx="4414523" cy="10312403"/>
            <a:chOff x="0" y="0"/>
            <a:chExt cx="588603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585216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5153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8594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13732890"/>
                  </a:lnTo>
                  <a:cubicBezTo>
                    <a:pt x="5885942" y="13742290"/>
                    <a:pt x="5878322" y="13749782"/>
                    <a:pt x="586905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5869051" y="13716000"/>
                  </a:lnTo>
                  <a:lnTo>
                    <a:pt x="5869051" y="13732890"/>
                  </a:lnTo>
                  <a:lnTo>
                    <a:pt x="5852160" y="13732890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153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88720" y="1645920"/>
            <a:ext cx="12801600" cy="1645920"/>
            <a:chOff x="0" y="0"/>
            <a:chExt cx="1706880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068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71450"/>
              <a:ext cx="17068800" cy="236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b="true" sz="8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Parallel Task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88720" y="3255264"/>
            <a:ext cx="12801600" cy="1645920"/>
            <a:chOff x="0" y="0"/>
            <a:chExt cx="17068800" cy="2194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71450"/>
              <a:ext cx="17068800" cy="236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b="true" sz="8800">
                  <a:solidFill>
                    <a:srgbClr val="90B8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Scheduler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88720" y="5157216"/>
            <a:ext cx="12435840" cy="1371600"/>
            <a:chOff x="0" y="0"/>
            <a:chExt cx="1658112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581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664" r="0" b="-12666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65811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AAAA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Comparative Performance Analysis of 5 Scheduling Algorithms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AAAA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Implemented in C++ with OpenMP Parallelism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8720" y="8869680"/>
            <a:ext cx="12435840" cy="548640"/>
            <a:chOff x="0" y="0"/>
            <a:chExt cx="1658112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58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1660" r="0" b="-3916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6581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5557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FCFS  ·  Round Robin  ·  MinMin  ·  MaxMin  ·  LoadAware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360919" y="5574927"/>
            <a:ext cx="4607014" cy="339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2499">
                <a:solidFill>
                  <a:srgbClr val="F7F8FA"/>
                </a:solidFill>
                <a:latin typeface="Calibri (MS)"/>
                <a:ea typeface="Calibri (MS)"/>
                <a:cs typeface="Calibri (MS)"/>
                <a:sym typeface="Calibri (MS)"/>
              </a:rPr>
              <a:t>Made by :</a:t>
            </a:r>
          </a:p>
          <a:p>
            <a:pPr algn="r">
              <a:lnSpc>
                <a:spcPts val="2999"/>
              </a:lnSpc>
            </a:pPr>
            <a:r>
              <a:rPr lang="en-US" sz="2499">
                <a:solidFill>
                  <a:srgbClr val="F7F8FA"/>
                </a:solidFill>
                <a:latin typeface="Calibri (MS)"/>
                <a:ea typeface="Calibri (MS)"/>
                <a:cs typeface="Calibri (MS)"/>
                <a:sym typeface="Calibri (MS)"/>
              </a:rPr>
              <a:t>Bipasha (102303388)</a:t>
            </a:r>
          </a:p>
          <a:p>
            <a:pPr algn="r">
              <a:lnSpc>
                <a:spcPts val="2999"/>
              </a:lnSpc>
            </a:pPr>
            <a:r>
              <a:rPr lang="en-US" sz="2499">
                <a:solidFill>
                  <a:srgbClr val="F7F8FA"/>
                </a:solidFill>
                <a:latin typeface="Calibri (MS)"/>
                <a:ea typeface="Calibri (MS)"/>
                <a:cs typeface="Calibri (MS)"/>
                <a:sym typeface="Calibri (MS)"/>
              </a:rPr>
              <a:t>Suneet Singla (102303615)</a:t>
            </a:r>
          </a:p>
          <a:p>
            <a:pPr algn="r">
              <a:lnSpc>
                <a:spcPts val="2999"/>
              </a:lnSpc>
            </a:pPr>
          </a:p>
          <a:p>
            <a:pPr algn="r">
              <a:lnSpc>
                <a:spcPts val="2999"/>
              </a:lnSpc>
            </a:pPr>
          </a:p>
          <a:p>
            <a:pPr algn="r">
              <a:lnSpc>
                <a:spcPts val="2999"/>
              </a:lnSpc>
            </a:pPr>
          </a:p>
          <a:p>
            <a:pPr algn="r">
              <a:lnSpc>
                <a:spcPts val="2999"/>
              </a:lnSpc>
            </a:pPr>
          </a:p>
          <a:p>
            <a:pPr algn="r">
              <a:lnSpc>
                <a:spcPts val="2999"/>
              </a:lnSpc>
            </a:pPr>
            <a:r>
              <a:rPr lang="en-US" sz="2499">
                <a:solidFill>
                  <a:srgbClr val="F7F8FA"/>
                </a:solidFill>
                <a:latin typeface="Calibri (MS)"/>
                <a:ea typeface="Calibri (MS)"/>
                <a:cs typeface="Calibri (MS)"/>
                <a:sym typeface="Calibri (MS)"/>
              </a:rPr>
              <a:t>Submitted to:</a:t>
            </a:r>
          </a:p>
          <a:p>
            <a:pPr algn="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F7F8FA"/>
                </a:solidFill>
                <a:latin typeface="Calibri (MS)"/>
                <a:ea typeface="Calibri (MS)"/>
                <a:cs typeface="Calibri (MS)"/>
                <a:sym typeface="Calibri (MS)"/>
              </a:rPr>
              <a:t>Dr. Saif Nalband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0263" y="499367"/>
            <a:ext cx="135131" cy="1397003"/>
            <a:chOff x="0" y="0"/>
            <a:chExt cx="180175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862582"/>
            </a:xfrm>
            <a:custGeom>
              <a:avLst/>
              <a:gdLst/>
              <a:ahLst/>
              <a:cxnLst/>
              <a:rect r="r" b="b" t="t" l="l"/>
              <a:pathLst>
                <a:path h="18625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845691"/>
                  </a:lnTo>
                  <a:cubicBezTo>
                    <a:pt x="180086" y="1855089"/>
                    <a:pt x="172466" y="1862582"/>
                    <a:pt x="163195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63195" y="1828800"/>
                  </a:lnTo>
                  <a:lnTo>
                    <a:pt x="163195" y="1845691"/>
                  </a:lnTo>
                  <a:lnTo>
                    <a:pt x="146304" y="18456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457200"/>
            <a:ext cx="16642080" cy="768096"/>
            <a:chOff x="0" y="0"/>
            <a:chExt cx="22189440" cy="1024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1894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b="true" sz="4000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3856" y="1225296"/>
            <a:ext cx="16642080" cy="512064"/>
            <a:chOff x="0" y="0"/>
            <a:chExt cx="22189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89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Objective · Technology · Experiment Design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5220">
            <a:off x="810254" y="1915477"/>
            <a:ext cx="16667502" cy="0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627383" y="2090423"/>
            <a:ext cx="8346443" cy="2860043"/>
            <a:chOff x="0" y="0"/>
            <a:chExt cx="11128591" cy="38133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110947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128501" cy="3813302"/>
            </a:xfrm>
            <a:custGeom>
              <a:avLst/>
              <a:gdLst/>
              <a:ahLst/>
              <a:cxnLst/>
              <a:rect r="r" b="b" t="t" l="l"/>
              <a:pathLst>
                <a:path h="38133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3796411"/>
                  </a:lnTo>
                  <a:cubicBezTo>
                    <a:pt x="11128501" y="3805809"/>
                    <a:pt x="11120882" y="3813302"/>
                    <a:pt x="1111161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11111611" y="3779520"/>
                  </a:lnTo>
                  <a:lnTo>
                    <a:pt x="11111611" y="3796411"/>
                  </a:lnTo>
                  <a:lnTo>
                    <a:pt x="11094720" y="37964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65197" y="2207257"/>
            <a:ext cx="776223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2C5F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5197" y="2746372"/>
            <a:ext cx="776223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Design and evaluate a parallel task scheduler using DAG-based workloads, comparing 5 scheduling algorithms across multiple configurations to identify the most efficient strategy.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27383" y="5144519"/>
            <a:ext cx="8346443" cy="1938528"/>
            <a:chOff x="0" y="0"/>
            <a:chExt cx="11128591" cy="25847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1827"/>
              <a:ext cx="11094720" cy="2560988"/>
            </a:xfrm>
            <a:custGeom>
              <a:avLst/>
              <a:gdLst/>
              <a:ahLst/>
              <a:cxnLst/>
              <a:rect r="r" b="b" t="t" l="l"/>
              <a:pathLst>
                <a:path h="25609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560988"/>
                  </a:lnTo>
                  <a:lnTo>
                    <a:pt x="0" y="25609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28501" cy="2584642"/>
            </a:xfrm>
            <a:custGeom>
              <a:avLst/>
              <a:gdLst/>
              <a:ahLst/>
              <a:cxnLst/>
              <a:rect r="r" b="b" t="t" l="l"/>
              <a:pathLst>
                <a:path h="258464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5335"/>
                    <a:pt x="11128501" y="11827"/>
                  </a:cubicBezTo>
                  <a:lnTo>
                    <a:pt x="11128501" y="2572815"/>
                  </a:lnTo>
                  <a:cubicBezTo>
                    <a:pt x="11128501" y="2579395"/>
                    <a:pt x="11120882" y="2584642"/>
                    <a:pt x="11111611" y="2584642"/>
                  </a:cubicBezTo>
                  <a:lnTo>
                    <a:pt x="16891" y="2584642"/>
                  </a:lnTo>
                  <a:cubicBezTo>
                    <a:pt x="7493" y="2584642"/>
                    <a:pt x="0" y="2579306"/>
                    <a:pt x="0" y="2572815"/>
                  </a:cubicBezTo>
                  <a:lnTo>
                    <a:pt x="0" y="11827"/>
                  </a:lnTo>
                  <a:cubicBezTo>
                    <a:pt x="0" y="5335"/>
                    <a:pt x="7620" y="0"/>
                    <a:pt x="16891" y="0"/>
                  </a:cubicBezTo>
                  <a:moveTo>
                    <a:pt x="16891" y="23742"/>
                  </a:moveTo>
                  <a:lnTo>
                    <a:pt x="16891" y="11827"/>
                  </a:lnTo>
                  <a:lnTo>
                    <a:pt x="33909" y="11827"/>
                  </a:lnTo>
                  <a:lnTo>
                    <a:pt x="33909" y="2572815"/>
                  </a:lnTo>
                  <a:lnTo>
                    <a:pt x="16891" y="2572815"/>
                  </a:lnTo>
                  <a:lnTo>
                    <a:pt x="16891" y="2560988"/>
                  </a:lnTo>
                  <a:lnTo>
                    <a:pt x="11111611" y="2560988"/>
                  </a:lnTo>
                  <a:lnTo>
                    <a:pt x="11111611" y="2572815"/>
                  </a:lnTo>
                  <a:lnTo>
                    <a:pt x="11094720" y="2572815"/>
                  </a:lnTo>
                  <a:lnTo>
                    <a:pt x="11094720" y="11827"/>
                  </a:lnTo>
                  <a:lnTo>
                    <a:pt x="11111611" y="11827"/>
                  </a:lnTo>
                  <a:lnTo>
                    <a:pt x="11111611" y="23742"/>
                  </a:lnTo>
                  <a:lnTo>
                    <a:pt x="16891" y="23742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45394" y="5866571"/>
            <a:ext cx="739647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Tasks are</a:t>
            </a:r>
            <a:r>
              <a:rPr lang="en-US" sz="22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 interdependent (DAG) and must be scheduled across multiple processors efficiently.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27383" y="7273547"/>
            <a:ext cx="8346443" cy="1579883"/>
            <a:chOff x="0" y="0"/>
            <a:chExt cx="11128591" cy="21065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10947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28501" cy="2106422"/>
            </a:xfrm>
            <a:custGeom>
              <a:avLst/>
              <a:gdLst/>
              <a:ahLst/>
              <a:cxnLst/>
              <a:rect r="r" b="b" t="t" l="l"/>
              <a:pathLst>
                <a:path h="210642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089531"/>
                  </a:lnTo>
                  <a:cubicBezTo>
                    <a:pt x="11128501" y="2098929"/>
                    <a:pt x="11120882" y="2106422"/>
                    <a:pt x="1111161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1111611" y="2072640"/>
                  </a:lnTo>
                  <a:lnTo>
                    <a:pt x="11111611" y="2089531"/>
                  </a:lnTo>
                  <a:lnTo>
                    <a:pt x="11094720" y="20895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65197" y="7390381"/>
            <a:ext cx="7762237" cy="44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2C5F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 &amp; Run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5197" y="7838056"/>
            <a:ext cx="7762237" cy="45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make run  →  ./scheduler  →  results.csv  →  plot.py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14183" y="2090423"/>
            <a:ext cx="8163563" cy="2022125"/>
            <a:chOff x="0" y="0"/>
            <a:chExt cx="22790064" cy="56451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34216" y="9437"/>
              <a:ext cx="22721452" cy="5626204"/>
            </a:xfrm>
            <a:custGeom>
              <a:avLst/>
              <a:gdLst/>
              <a:ahLst/>
              <a:cxnLst/>
              <a:rect r="r" b="b" t="t" l="l"/>
              <a:pathLst>
                <a:path h="5626204" w="22721452">
                  <a:moveTo>
                    <a:pt x="0" y="0"/>
                  </a:moveTo>
                  <a:lnTo>
                    <a:pt x="22721452" y="0"/>
                  </a:lnTo>
                  <a:lnTo>
                    <a:pt x="22721452" y="5626204"/>
                  </a:lnTo>
                  <a:lnTo>
                    <a:pt x="0" y="56262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789883" cy="5645077"/>
            </a:xfrm>
            <a:custGeom>
              <a:avLst/>
              <a:gdLst/>
              <a:ahLst/>
              <a:cxnLst/>
              <a:rect r="r" b="b" t="t" l="l"/>
              <a:pathLst>
                <a:path h="5645077" w="22789883">
                  <a:moveTo>
                    <a:pt x="34216" y="0"/>
                  </a:moveTo>
                  <a:lnTo>
                    <a:pt x="22755668" y="0"/>
                  </a:lnTo>
                  <a:cubicBezTo>
                    <a:pt x="22774706" y="0"/>
                    <a:pt x="22789883" y="4257"/>
                    <a:pt x="22789883" y="9437"/>
                  </a:cubicBezTo>
                  <a:lnTo>
                    <a:pt x="22789883" y="5635641"/>
                  </a:lnTo>
                  <a:cubicBezTo>
                    <a:pt x="22789883" y="5640891"/>
                    <a:pt x="22774449" y="5645077"/>
                    <a:pt x="22755668" y="5645077"/>
                  </a:cubicBezTo>
                  <a:lnTo>
                    <a:pt x="34216" y="5645077"/>
                  </a:lnTo>
                  <a:cubicBezTo>
                    <a:pt x="15179" y="5645077"/>
                    <a:pt x="0" y="5640820"/>
                    <a:pt x="0" y="5635641"/>
                  </a:cubicBezTo>
                  <a:lnTo>
                    <a:pt x="0" y="9437"/>
                  </a:lnTo>
                  <a:cubicBezTo>
                    <a:pt x="0" y="4257"/>
                    <a:pt x="15436" y="0"/>
                    <a:pt x="34216" y="0"/>
                  </a:cubicBezTo>
                  <a:moveTo>
                    <a:pt x="34216" y="18944"/>
                  </a:moveTo>
                  <a:lnTo>
                    <a:pt x="34216" y="9437"/>
                  </a:lnTo>
                  <a:lnTo>
                    <a:pt x="68689" y="9437"/>
                  </a:lnTo>
                  <a:lnTo>
                    <a:pt x="68689" y="5635641"/>
                  </a:lnTo>
                  <a:lnTo>
                    <a:pt x="34216" y="5635641"/>
                  </a:lnTo>
                  <a:lnTo>
                    <a:pt x="34216" y="5626204"/>
                  </a:lnTo>
                  <a:lnTo>
                    <a:pt x="22755668" y="5626204"/>
                  </a:lnTo>
                  <a:lnTo>
                    <a:pt x="22755668" y="5635641"/>
                  </a:lnTo>
                  <a:lnTo>
                    <a:pt x="22721453" y="5635641"/>
                  </a:lnTo>
                  <a:lnTo>
                    <a:pt x="22721453" y="9437"/>
                  </a:lnTo>
                  <a:lnTo>
                    <a:pt x="22755668" y="9437"/>
                  </a:lnTo>
                  <a:lnTo>
                    <a:pt x="22755668" y="18944"/>
                  </a:lnTo>
                  <a:lnTo>
                    <a:pt x="34216" y="18944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606634" y="2188207"/>
            <a:ext cx="70862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399">
                <a:solidFill>
                  <a:srgbClr val="1E40A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Experiment Setup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52006" y="2579684"/>
            <a:ext cx="7762237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199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ask Sizes: 50, 100, 200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Processors: 2, 4, 8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Total Configurations: 9</a:t>
            </a:r>
          </a:p>
          <a:p>
            <a:pPr algn="l">
              <a:lnSpc>
                <a:spcPts val="2640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9314183" y="4431287"/>
            <a:ext cx="8163563" cy="2430770"/>
            <a:chOff x="0" y="0"/>
            <a:chExt cx="10884751" cy="324102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521" y="14356"/>
              <a:ext cx="10851622" cy="3212240"/>
            </a:xfrm>
            <a:custGeom>
              <a:avLst/>
              <a:gdLst/>
              <a:ahLst/>
              <a:cxnLst/>
              <a:rect r="r" b="b" t="t" l="l"/>
              <a:pathLst>
                <a:path h="3212240" w="10851622">
                  <a:moveTo>
                    <a:pt x="0" y="0"/>
                  </a:moveTo>
                  <a:lnTo>
                    <a:pt x="10851622" y="0"/>
                  </a:lnTo>
                  <a:lnTo>
                    <a:pt x="10851622" y="3212240"/>
                  </a:lnTo>
                  <a:lnTo>
                    <a:pt x="0" y="321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84664" cy="3240952"/>
            </a:xfrm>
            <a:custGeom>
              <a:avLst/>
              <a:gdLst/>
              <a:ahLst/>
              <a:cxnLst/>
              <a:rect r="r" b="b" t="t" l="l"/>
              <a:pathLst>
                <a:path h="3240952" w="10884664">
                  <a:moveTo>
                    <a:pt x="16521" y="0"/>
                  </a:moveTo>
                  <a:lnTo>
                    <a:pt x="10868143" y="0"/>
                  </a:lnTo>
                  <a:cubicBezTo>
                    <a:pt x="10877335" y="0"/>
                    <a:pt x="10884664" y="6476"/>
                    <a:pt x="10884664" y="14356"/>
                  </a:cubicBezTo>
                  <a:lnTo>
                    <a:pt x="10884664" y="3226596"/>
                  </a:lnTo>
                  <a:cubicBezTo>
                    <a:pt x="10884664" y="3234584"/>
                    <a:pt x="10877210" y="3240952"/>
                    <a:pt x="10868143" y="3240952"/>
                  </a:cubicBezTo>
                  <a:lnTo>
                    <a:pt x="16521" y="3240952"/>
                  </a:lnTo>
                  <a:cubicBezTo>
                    <a:pt x="7329" y="3240952"/>
                    <a:pt x="0" y="3234475"/>
                    <a:pt x="0" y="3226596"/>
                  </a:cubicBezTo>
                  <a:lnTo>
                    <a:pt x="0" y="14356"/>
                  </a:lnTo>
                  <a:cubicBezTo>
                    <a:pt x="0" y="6476"/>
                    <a:pt x="7453" y="0"/>
                    <a:pt x="16521" y="0"/>
                  </a:cubicBezTo>
                  <a:moveTo>
                    <a:pt x="16521" y="28819"/>
                  </a:moveTo>
                  <a:lnTo>
                    <a:pt x="16521" y="14356"/>
                  </a:lnTo>
                  <a:lnTo>
                    <a:pt x="33166" y="14356"/>
                  </a:lnTo>
                  <a:lnTo>
                    <a:pt x="33166" y="3226596"/>
                  </a:lnTo>
                  <a:lnTo>
                    <a:pt x="16521" y="3226596"/>
                  </a:lnTo>
                  <a:lnTo>
                    <a:pt x="16521" y="3212240"/>
                  </a:lnTo>
                  <a:lnTo>
                    <a:pt x="10868143" y="3212240"/>
                  </a:lnTo>
                  <a:lnTo>
                    <a:pt x="10868143" y="3226596"/>
                  </a:lnTo>
                  <a:lnTo>
                    <a:pt x="10851622" y="3226596"/>
                  </a:lnTo>
                  <a:lnTo>
                    <a:pt x="10851622" y="14356"/>
                  </a:lnTo>
                  <a:lnTo>
                    <a:pt x="10868143" y="14356"/>
                  </a:lnTo>
                  <a:lnTo>
                    <a:pt x="10868143" y="28819"/>
                  </a:lnTo>
                  <a:lnTo>
                    <a:pt x="16521" y="2881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555508" y="4677994"/>
            <a:ext cx="693100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1E40A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Approach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84855" y="7083047"/>
            <a:ext cx="8346443" cy="1770383"/>
            <a:chOff x="0" y="0"/>
            <a:chExt cx="11128591" cy="23605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0801"/>
              <a:ext cx="11094720" cy="2338852"/>
            </a:xfrm>
            <a:custGeom>
              <a:avLst/>
              <a:gdLst/>
              <a:ahLst/>
              <a:cxnLst/>
              <a:rect r="r" b="b" t="t" l="l"/>
              <a:pathLst>
                <a:path h="23388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338852"/>
                  </a:lnTo>
                  <a:lnTo>
                    <a:pt x="0" y="23388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128501" cy="2360454"/>
            </a:xfrm>
            <a:custGeom>
              <a:avLst/>
              <a:gdLst/>
              <a:ahLst/>
              <a:cxnLst/>
              <a:rect r="r" b="b" t="t" l="l"/>
              <a:pathLst>
                <a:path h="236045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4873"/>
                    <a:pt x="11128501" y="10801"/>
                  </a:cubicBezTo>
                  <a:lnTo>
                    <a:pt x="11128501" y="2349653"/>
                  </a:lnTo>
                  <a:cubicBezTo>
                    <a:pt x="11128501" y="2355663"/>
                    <a:pt x="11120882" y="2360454"/>
                    <a:pt x="11111611" y="2360454"/>
                  </a:cubicBezTo>
                  <a:lnTo>
                    <a:pt x="16891" y="2360454"/>
                  </a:lnTo>
                  <a:cubicBezTo>
                    <a:pt x="7493" y="2360454"/>
                    <a:pt x="0" y="2355581"/>
                    <a:pt x="0" y="2349653"/>
                  </a:cubicBezTo>
                  <a:lnTo>
                    <a:pt x="0" y="10801"/>
                  </a:lnTo>
                  <a:cubicBezTo>
                    <a:pt x="0" y="4873"/>
                    <a:pt x="7620" y="0"/>
                    <a:pt x="16891" y="0"/>
                  </a:cubicBezTo>
                  <a:moveTo>
                    <a:pt x="16891" y="21683"/>
                  </a:moveTo>
                  <a:lnTo>
                    <a:pt x="16891" y="10801"/>
                  </a:lnTo>
                  <a:lnTo>
                    <a:pt x="33909" y="10801"/>
                  </a:lnTo>
                  <a:lnTo>
                    <a:pt x="33909" y="2349653"/>
                  </a:lnTo>
                  <a:lnTo>
                    <a:pt x="16891" y="2349653"/>
                  </a:lnTo>
                  <a:lnTo>
                    <a:pt x="16891" y="2338852"/>
                  </a:lnTo>
                  <a:lnTo>
                    <a:pt x="11111611" y="2338852"/>
                  </a:lnTo>
                  <a:lnTo>
                    <a:pt x="11111611" y="2349653"/>
                  </a:lnTo>
                  <a:lnTo>
                    <a:pt x="11094720" y="2349653"/>
                  </a:lnTo>
                  <a:lnTo>
                    <a:pt x="11094720" y="10801"/>
                  </a:lnTo>
                  <a:lnTo>
                    <a:pt x="11111611" y="10801"/>
                  </a:lnTo>
                  <a:lnTo>
                    <a:pt x="11111611" y="21683"/>
                  </a:lnTo>
                  <a:lnTo>
                    <a:pt x="16891" y="21683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877829" y="5264791"/>
            <a:ext cx="776223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2C5F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Idea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61998" y="5156202"/>
            <a:ext cx="7592157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• Generate t</a:t>
            </a:r>
            <a:r>
              <a:rPr lang="en-US" sz="2199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asks with dependencies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• Apply different scheduling algorithms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• Execute in parallel using OpenMP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• Measure performance using 4 key metrics</a:t>
            </a:r>
          </a:p>
          <a:p>
            <a:pPr algn="l">
              <a:lnSpc>
                <a:spcPts val="2640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9599886" y="7838056"/>
            <a:ext cx="7592157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C++</a:t>
            </a:r>
            <a:r>
              <a:rPr lang="en-US" sz="2199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 (OpenMP), Python (matplotlib), CSV pipeline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40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9555508" y="7371331"/>
            <a:ext cx="693100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1E40A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 Stack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0263" y="499367"/>
            <a:ext cx="135131" cy="1397003"/>
            <a:chOff x="0" y="0"/>
            <a:chExt cx="180175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862582"/>
            </a:xfrm>
            <a:custGeom>
              <a:avLst/>
              <a:gdLst/>
              <a:ahLst/>
              <a:cxnLst/>
              <a:rect r="r" b="b" t="t" l="l"/>
              <a:pathLst>
                <a:path h="18625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845691"/>
                  </a:lnTo>
                  <a:cubicBezTo>
                    <a:pt x="180086" y="1855089"/>
                    <a:pt x="172466" y="1862582"/>
                    <a:pt x="163195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63195" y="1828800"/>
                  </a:lnTo>
                  <a:lnTo>
                    <a:pt x="163195" y="1845691"/>
                  </a:lnTo>
                  <a:lnTo>
                    <a:pt x="146304" y="18456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535547"/>
            <a:ext cx="16642080" cy="1397347"/>
            <a:chOff x="0" y="0"/>
            <a:chExt cx="22189440" cy="1863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863130"/>
            </a:xfrm>
            <a:custGeom>
              <a:avLst/>
              <a:gdLst/>
              <a:ahLst/>
              <a:cxnLst/>
              <a:rect r="r" b="b" t="t" l="l"/>
              <a:pathLst>
                <a:path h="186313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863130"/>
                  </a:lnTo>
                  <a:lnTo>
                    <a:pt x="0" y="1863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578" r="0" b="-1595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189440" cy="1939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b="true" sz="4000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 and Key Concepts</a:t>
              </a:r>
            </a:p>
            <a:p>
              <a:pPr algn="l">
                <a:lnSpc>
                  <a:spcPts val="4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3856" y="1225296"/>
            <a:ext cx="16642080" cy="512064"/>
            <a:chOff x="0" y="0"/>
            <a:chExt cx="22189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89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rot="5220">
            <a:off x="810254" y="1915477"/>
            <a:ext cx="16667502" cy="0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499367" y="1998983"/>
            <a:ext cx="5694683" cy="1866005"/>
            <a:chOff x="0" y="0"/>
            <a:chExt cx="7592911" cy="24880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8351"/>
              <a:ext cx="7559040" cy="2471261"/>
            </a:xfrm>
            <a:custGeom>
              <a:avLst/>
              <a:gdLst/>
              <a:ahLst/>
              <a:cxnLst/>
              <a:rect r="r" b="b" t="t" l="l"/>
              <a:pathLst>
                <a:path h="2471261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71261"/>
                  </a:lnTo>
                  <a:lnTo>
                    <a:pt x="0" y="24712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92822" cy="2487962"/>
            </a:xfrm>
            <a:custGeom>
              <a:avLst/>
              <a:gdLst/>
              <a:ahLst/>
              <a:cxnLst/>
              <a:rect r="r" b="b" t="t" l="l"/>
              <a:pathLst>
                <a:path h="248796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3767"/>
                    <a:pt x="7592822" y="8351"/>
                  </a:cubicBezTo>
                  <a:lnTo>
                    <a:pt x="7592822" y="2479612"/>
                  </a:lnTo>
                  <a:cubicBezTo>
                    <a:pt x="7592822" y="2484258"/>
                    <a:pt x="7585202" y="2487962"/>
                    <a:pt x="7575931" y="2487962"/>
                  </a:cubicBezTo>
                  <a:lnTo>
                    <a:pt x="16891" y="2487962"/>
                  </a:lnTo>
                  <a:cubicBezTo>
                    <a:pt x="7493" y="2487962"/>
                    <a:pt x="0" y="2484195"/>
                    <a:pt x="0" y="2479612"/>
                  </a:cubicBezTo>
                  <a:lnTo>
                    <a:pt x="0" y="8351"/>
                  </a:lnTo>
                  <a:cubicBezTo>
                    <a:pt x="0" y="3767"/>
                    <a:pt x="7620" y="0"/>
                    <a:pt x="16891" y="0"/>
                  </a:cubicBezTo>
                  <a:moveTo>
                    <a:pt x="16891" y="16764"/>
                  </a:moveTo>
                  <a:lnTo>
                    <a:pt x="16891" y="8351"/>
                  </a:lnTo>
                  <a:lnTo>
                    <a:pt x="33909" y="8351"/>
                  </a:lnTo>
                  <a:lnTo>
                    <a:pt x="33909" y="2479612"/>
                  </a:lnTo>
                  <a:lnTo>
                    <a:pt x="16891" y="2479612"/>
                  </a:lnTo>
                  <a:lnTo>
                    <a:pt x="16891" y="2471261"/>
                  </a:lnTo>
                  <a:lnTo>
                    <a:pt x="7575931" y="2471261"/>
                  </a:lnTo>
                  <a:lnTo>
                    <a:pt x="7575931" y="2479612"/>
                  </a:lnTo>
                  <a:lnTo>
                    <a:pt x="7559040" y="2479612"/>
                  </a:lnTo>
                  <a:lnTo>
                    <a:pt x="7559040" y="8351"/>
                  </a:lnTo>
                  <a:lnTo>
                    <a:pt x="7575931" y="8351"/>
                  </a:lnTo>
                  <a:lnTo>
                    <a:pt x="7575931" y="16764"/>
                  </a:lnTo>
                  <a:lnTo>
                    <a:pt x="16891" y="16764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99367" y="1998983"/>
            <a:ext cx="5694683" cy="720347"/>
            <a:chOff x="0" y="0"/>
            <a:chExt cx="7592911" cy="9604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92822" cy="960376"/>
            </a:xfrm>
            <a:custGeom>
              <a:avLst/>
              <a:gdLst/>
              <a:ahLst/>
              <a:cxnLst/>
              <a:rect r="r" b="b" t="t" l="l"/>
              <a:pathLst>
                <a:path h="960376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943483"/>
                  </a:lnTo>
                  <a:cubicBezTo>
                    <a:pt x="7592822" y="952881"/>
                    <a:pt x="7585202" y="960374"/>
                    <a:pt x="75759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575931" y="926592"/>
                  </a:lnTo>
                  <a:lnTo>
                    <a:pt x="7575931" y="943483"/>
                  </a:lnTo>
                  <a:lnTo>
                    <a:pt x="7559040" y="9434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8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24679" y="1998983"/>
            <a:ext cx="5694683" cy="1887222"/>
            <a:chOff x="0" y="0"/>
            <a:chExt cx="7592911" cy="25162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8446"/>
              <a:ext cx="7559040" cy="2499360"/>
            </a:xfrm>
            <a:custGeom>
              <a:avLst/>
              <a:gdLst/>
              <a:ahLst/>
              <a:cxnLst/>
              <a:rect r="r" b="b" t="t" l="l"/>
              <a:pathLst>
                <a:path h="24993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99359"/>
                  </a:lnTo>
                  <a:lnTo>
                    <a:pt x="0" y="249935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92822" cy="2516251"/>
            </a:xfrm>
            <a:custGeom>
              <a:avLst/>
              <a:gdLst/>
              <a:ahLst/>
              <a:cxnLst/>
              <a:rect r="r" b="b" t="t" l="l"/>
              <a:pathLst>
                <a:path h="2516251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3810"/>
                    <a:pt x="7592822" y="8446"/>
                  </a:cubicBezTo>
                  <a:lnTo>
                    <a:pt x="7592822" y="2507805"/>
                  </a:lnTo>
                  <a:cubicBezTo>
                    <a:pt x="7592822" y="2512505"/>
                    <a:pt x="7585202" y="2516251"/>
                    <a:pt x="7575931" y="2516251"/>
                  </a:cubicBezTo>
                  <a:lnTo>
                    <a:pt x="16891" y="2516251"/>
                  </a:lnTo>
                  <a:cubicBezTo>
                    <a:pt x="7493" y="2516251"/>
                    <a:pt x="0" y="2512441"/>
                    <a:pt x="0" y="2507805"/>
                  </a:cubicBezTo>
                  <a:lnTo>
                    <a:pt x="0" y="8446"/>
                  </a:lnTo>
                  <a:cubicBezTo>
                    <a:pt x="0" y="3810"/>
                    <a:pt x="7620" y="0"/>
                    <a:pt x="16891" y="0"/>
                  </a:cubicBezTo>
                  <a:moveTo>
                    <a:pt x="16891" y="16955"/>
                  </a:moveTo>
                  <a:lnTo>
                    <a:pt x="16891" y="8446"/>
                  </a:lnTo>
                  <a:lnTo>
                    <a:pt x="33909" y="8446"/>
                  </a:lnTo>
                  <a:lnTo>
                    <a:pt x="33909" y="2507805"/>
                  </a:lnTo>
                  <a:lnTo>
                    <a:pt x="16891" y="2507805"/>
                  </a:lnTo>
                  <a:lnTo>
                    <a:pt x="16891" y="2499360"/>
                  </a:lnTo>
                  <a:lnTo>
                    <a:pt x="7575931" y="2499360"/>
                  </a:lnTo>
                  <a:lnTo>
                    <a:pt x="7575931" y="2507805"/>
                  </a:lnTo>
                  <a:lnTo>
                    <a:pt x="7559040" y="2507805"/>
                  </a:lnTo>
                  <a:lnTo>
                    <a:pt x="7559040" y="8446"/>
                  </a:lnTo>
                  <a:lnTo>
                    <a:pt x="7575931" y="8446"/>
                  </a:lnTo>
                  <a:lnTo>
                    <a:pt x="7575931" y="16955"/>
                  </a:lnTo>
                  <a:lnTo>
                    <a:pt x="16891" y="16955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424679" y="1998983"/>
            <a:ext cx="5694683" cy="720347"/>
            <a:chOff x="0" y="0"/>
            <a:chExt cx="7592911" cy="9604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DAA6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92822" cy="960376"/>
            </a:xfrm>
            <a:custGeom>
              <a:avLst/>
              <a:gdLst/>
              <a:ahLst/>
              <a:cxnLst/>
              <a:rect r="r" b="b" t="t" l="l"/>
              <a:pathLst>
                <a:path h="960376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943483"/>
                  </a:lnTo>
                  <a:cubicBezTo>
                    <a:pt x="7592822" y="952881"/>
                    <a:pt x="7585202" y="960374"/>
                    <a:pt x="75759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575931" y="926592"/>
                  </a:lnTo>
                  <a:lnTo>
                    <a:pt x="7575931" y="943483"/>
                  </a:lnTo>
                  <a:lnTo>
                    <a:pt x="7559040" y="9434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AA6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349991" y="1998983"/>
            <a:ext cx="5694683" cy="1866005"/>
            <a:chOff x="0" y="0"/>
            <a:chExt cx="7592911" cy="24880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8351"/>
              <a:ext cx="7559040" cy="2471261"/>
            </a:xfrm>
            <a:custGeom>
              <a:avLst/>
              <a:gdLst/>
              <a:ahLst/>
              <a:cxnLst/>
              <a:rect r="r" b="b" t="t" l="l"/>
              <a:pathLst>
                <a:path h="2471261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71261"/>
                  </a:lnTo>
                  <a:lnTo>
                    <a:pt x="0" y="24712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92822" cy="2487962"/>
            </a:xfrm>
            <a:custGeom>
              <a:avLst/>
              <a:gdLst/>
              <a:ahLst/>
              <a:cxnLst/>
              <a:rect r="r" b="b" t="t" l="l"/>
              <a:pathLst>
                <a:path h="248796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3767"/>
                    <a:pt x="7592822" y="8351"/>
                  </a:cubicBezTo>
                  <a:lnTo>
                    <a:pt x="7592822" y="2479612"/>
                  </a:lnTo>
                  <a:cubicBezTo>
                    <a:pt x="7592822" y="2484258"/>
                    <a:pt x="7585202" y="2487962"/>
                    <a:pt x="7575931" y="2487962"/>
                  </a:cubicBezTo>
                  <a:lnTo>
                    <a:pt x="16891" y="2487962"/>
                  </a:lnTo>
                  <a:cubicBezTo>
                    <a:pt x="7493" y="2487962"/>
                    <a:pt x="0" y="2484195"/>
                    <a:pt x="0" y="2479612"/>
                  </a:cubicBezTo>
                  <a:lnTo>
                    <a:pt x="0" y="8351"/>
                  </a:lnTo>
                  <a:cubicBezTo>
                    <a:pt x="0" y="3767"/>
                    <a:pt x="7620" y="0"/>
                    <a:pt x="16891" y="0"/>
                  </a:cubicBezTo>
                  <a:moveTo>
                    <a:pt x="16891" y="16764"/>
                  </a:moveTo>
                  <a:lnTo>
                    <a:pt x="16891" y="8351"/>
                  </a:lnTo>
                  <a:lnTo>
                    <a:pt x="33909" y="8351"/>
                  </a:lnTo>
                  <a:lnTo>
                    <a:pt x="33909" y="2479612"/>
                  </a:lnTo>
                  <a:lnTo>
                    <a:pt x="16891" y="2479612"/>
                  </a:lnTo>
                  <a:lnTo>
                    <a:pt x="16891" y="2471261"/>
                  </a:lnTo>
                  <a:lnTo>
                    <a:pt x="7575931" y="2471261"/>
                  </a:lnTo>
                  <a:lnTo>
                    <a:pt x="7575931" y="2479612"/>
                  </a:lnTo>
                  <a:lnTo>
                    <a:pt x="7559040" y="2479612"/>
                  </a:lnTo>
                  <a:lnTo>
                    <a:pt x="7559040" y="8351"/>
                  </a:lnTo>
                  <a:lnTo>
                    <a:pt x="7575931" y="8351"/>
                  </a:lnTo>
                  <a:lnTo>
                    <a:pt x="7575931" y="16764"/>
                  </a:lnTo>
                  <a:lnTo>
                    <a:pt x="16891" y="16764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349991" y="1998983"/>
            <a:ext cx="5694683" cy="720347"/>
            <a:chOff x="0" y="0"/>
            <a:chExt cx="7592911" cy="9604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92822" cy="960376"/>
            </a:xfrm>
            <a:custGeom>
              <a:avLst/>
              <a:gdLst/>
              <a:ahLst/>
              <a:cxnLst/>
              <a:rect r="r" b="b" t="t" l="l"/>
              <a:pathLst>
                <a:path h="960376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943483"/>
                  </a:lnTo>
                  <a:cubicBezTo>
                    <a:pt x="7592822" y="952881"/>
                    <a:pt x="7585202" y="960374"/>
                    <a:pt x="75759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575931" y="926592"/>
                  </a:lnTo>
                  <a:lnTo>
                    <a:pt x="7575931" y="943483"/>
                  </a:lnTo>
                  <a:lnTo>
                    <a:pt x="7559040" y="9434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99352" y="4229105"/>
            <a:ext cx="5694683" cy="1738687"/>
            <a:chOff x="0" y="0"/>
            <a:chExt cx="7592911" cy="23182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3612" y="7781"/>
              <a:ext cx="7565615" cy="2302647"/>
            </a:xfrm>
            <a:custGeom>
              <a:avLst/>
              <a:gdLst/>
              <a:ahLst/>
              <a:cxnLst/>
              <a:rect r="r" b="b" t="t" l="l"/>
              <a:pathLst>
                <a:path h="2302647" w="7565615">
                  <a:moveTo>
                    <a:pt x="0" y="0"/>
                  </a:moveTo>
                  <a:lnTo>
                    <a:pt x="7565615" y="0"/>
                  </a:lnTo>
                  <a:lnTo>
                    <a:pt x="7565615" y="2302647"/>
                  </a:lnTo>
                  <a:lnTo>
                    <a:pt x="0" y="23026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592839" cy="2318209"/>
            </a:xfrm>
            <a:custGeom>
              <a:avLst/>
              <a:gdLst/>
              <a:ahLst/>
              <a:cxnLst/>
              <a:rect r="r" b="b" t="t" l="l"/>
              <a:pathLst>
                <a:path h="2318209" w="7592839">
                  <a:moveTo>
                    <a:pt x="13612" y="0"/>
                  </a:moveTo>
                  <a:lnTo>
                    <a:pt x="7579227" y="0"/>
                  </a:lnTo>
                  <a:cubicBezTo>
                    <a:pt x="7586801" y="0"/>
                    <a:pt x="7592839" y="3510"/>
                    <a:pt x="7592839" y="7781"/>
                  </a:cubicBezTo>
                  <a:lnTo>
                    <a:pt x="7592839" y="2310428"/>
                  </a:lnTo>
                  <a:cubicBezTo>
                    <a:pt x="7592839" y="2314757"/>
                    <a:pt x="7586698" y="2318209"/>
                    <a:pt x="7579227" y="2318209"/>
                  </a:cubicBezTo>
                  <a:lnTo>
                    <a:pt x="13612" y="2318209"/>
                  </a:lnTo>
                  <a:cubicBezTo>
                    <a:pt x="6039" y="2318209"/>
                    <a:pt x="0" y="2314699"/>
                    <a:pt x="0" y="2310428"/>
                  </a:cubicBezTo>
                  <a:lnTo>
                    <a:pt x="0" y="7781"/>
                  </a:lnTo>
                  <a:cubicBezTo>
                    <a:pt x="0" y="3510"/>
                    <a:pt x="6141" y="0"/>
                    <a:pt x="13612" y="0"/>
                  </a:cubicBezTo>
                  <a:moveTo>
                    <a:pt x="13612" y="15620"/>
                  </a:moveTo>
                  <a:lnTo>
                    <a:pt x="13612" y="7781"/>
                  </a:lnTo>
                  <a:lnTo>
                    <a:pt x="27327" y="7781"/>
                  </a:lnTo>
                  <a:lnTo>
                    <a:pt x="27327" y="2310428"/>
                  </a:lnTo>
                  <a:lnTo>
                    <a:pt x="13612" y="2310428"/>
                  </a:lnTo>
                  <a:lnTo>
                    <a:pt x="13612" y="2302647"/>
                  </a:lnTo>
                  <a:lnTo>
                    <a:pt x="7579227" y="2302647"/>
                  </a:lnTo>
                  <a:lnTo>
                    <a:pt x="7579227" y="2310428"/>
                  </a:lnTo>
                  <a:lnTo>
                    <a:pt x="7565615" y="2310428"/>
                  </a:lnTo>
                  <a:lnTo>
                    <a:pt x="7565615" y="7781"/>
                  </a:lnTo>
                  <a:lnTo>
                    <a:pt x="7579227" y="7781"/>
                  </a:lnTo>
                  <a:lnTo>
                    <a:pt x="7579227" y="15620"/>
                  </a:lnTo>
                  <a:lnTo>
                    <a:pt x="13612" y="15620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99352" y="4229105"/>
            <a:ext cx="5694683" cy="720347"/>
            <a:chOff x="0" y="0"/>
            <a:chExt cx="7592911" cy="96046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3612" y="16891"/>
              <a:ext cx="7565615" cy="926592"/>
            </a:xfrm>
            <a:custGeom>
              <a:avLst/>
              <a:gdLst/>
              <a:ahLst/>
              <a:cxnLst/>
              <a:rect r="r" b="b" t="t" l="l"/>
              <a:pathLst>
                <a:path h="926592" w="7565615">
                  <a:moveTo>
                    <a:pt x="0" y="0"/>
                  </a:moveTo>
                  <a:lnTo>
                    <a:pt x="7565615" y="0"/>
                  </a:lnTo>
                  <a:lnTo>
                    <a:pt x="7565615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C9404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592839" cy="960376"/>
            </a:xfrm>
            <a:custGeom>
              <a:avLst/>
              <a:gdLst/>
              <a:ahLst/>
              <a:cxnLst/>
              <a:rect r="r" b="b" t="t" l="l"/>
              <a:pathLst>
                <a:path h="960376" w="7592839">
                  <a:moveTo>
                    <a:pt x="13612" y="0"/>
                  </a:moveTo>
                  <a:lnTo>
                    <a:pt x="7579227" y="0"/>
                  </a:lnTo>
                  <a:cubicBezTo>
                    <a:pt x="7586801" y="0"/>
                    <a:pt x="7592839" y="7620"/>
                    <a:pt x="7592839" y="16891"/>
                  </a:cubicBezTo>
                  <a:lnTo>
                    <a:pt x="7592839" y="943483"/>
                  </a:lnTo>
                  <a:cubicBezTo>
                    <a:pt x="7592839" y="952881"/>
                    <a:pt x="7586698" y="960374"/>
                    <a:pt x="7579227" y="960374"/>
                  </a:cubicBezTo>
                  <a:lnTo>
                    <a:pt x="13612" y="960374"/>
                  </a:lnTo>
                  <a:cubicBezTo>
                    <a:pt x="6141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6141" y="0"/>
                    <a:pt x="13612" y="0"/>
                  </a:cubicBezTo>
                  <a:moveTo>
                    <a:pt x="13612" y="33909"/>
                  </a:moveTo>
                  <a:lnTo>
                    <a:pt x="13612" y="16891"/>
                  </a:lnTo>
                  <a:lnTo>
                    <a:pt x="27327" y="16891"/>
                  </a:lnTo>
                  <a:lnTo>
                    <a:pt x="27327" y="943483"/>
                  </a:lnTo>
                  <a:lnTo>
                    <a:pt x="13612" y="943483"/>
                  </a:lnTo>
                  <a:lnTo>
                    <a:pt x="13612" y="926592"/>
                  </a:lnTo>
                  <a:lnTo>
                    <a:pt x="7579227" y="926592"/>
                  </a:lnTo>
                  <a:lnTo>
                    <a:pt x="7579227" y="943483"/>
                  </a:lnTo>
                  <a:lnTo>
                    <a:pt x="7565615" y="943483"/>
                  </a:lnTo>
                  <a:lnTo>
                    <a:pt x="7565615" y="16891"/>
                  </a:lnTo>
                  <a:lnTo>
                    <a:pt x="7579227" y="16891"/>
                  </a:lnTo>
                  <a:lnTo>
                    <a:pt x="7579227" y="33909"/>
                  </a:lnTo>
                  <a:lnTo>
                    <a:pt x="13612" y="33909"/>
                  </a:lnTo>
                  <a:close/>
                </a:path>
              </a:pathLst>
            </a:custGeom>
            <a:solidFill>
              <a:srgbClr val="C94040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731505" y="4257804"/>
            <a:ext cx="667512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</a:t>
            </a:r>
            <a:r>
              <a:rPr lang="en-US" b="true" sz="2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arallel Execution Engine</a:t>
            </a:r>
          </a:p>
          <a:p>
            <a:pPr algn="l">
              <a:lnSpc>
                <a:spcPts val="3120"/>
              </a:lnSpc>
            </a:pPr>
          </a:p>
        </p:txBody>
      </p:sp>
      <p:grpSp>
        <p:nvGrpSpPr>
          <p:cNvPr name="Group 37" id="37"/>
          <p:cNvGrpSpPr/>
          <p:nvPr/>
        </p:nvGrpSpPr>
        <p:grpSpPr>
          <a:xfrm rot="0">
            <a:off x="6424664" y="4286255"/>
            <a:ext cx="5694683" cy="1681537"/>
            <a:chOff x="0" y="0"/>
            <a:chExt cx="7592911" cy="2242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3612" y="7525"/>
              <a:ext cx="7565615" cy="2226960"/>
            </a:xfrm>
            <a:custGeom>
              <a:avLst/>
              <a:gdLst/>
              <a:ahLst/>
              <a:cxnLst/>
              <a:rect r="r" b="b" t="t" l="l"/>
              <a:pathLst>
                <a:path h="2226960" w="7565615">
                  <a:moveTo>
                    <a:pt x="0" y="0"/>
                  </a:moveTo>
                  <a:lnTo>
                    <a:pt x="7565615" y="0"/>
                  </a:lnTo>
                  <a:lnTo>
                    <a:pt x="7565615" y="2226960"/>
                  </a:lnTo>
                  <a:lnTo>
                    <a:pt x="0" y="2226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592839" cy="2242010"/>
            </a:xfrm>
            <a:custGeom>
              <a:avLst/>
              <a:gdLst/>
              <a:ahLst/>
              <a:cxnLst/>
              <a:rect r="r" b="b" t="t" l="l"/>
              <a:pathLst>
                <a:path h="2242010" w="7592839">
                  <a:moveTo>
                    <a:pt x="13612" y="0"/>
                  </a:moveTo>
                  <a:lnTo>
                    <a:pt x="7579227" y="0"/>
                  </a:lnTo>
                  <a:cubicBezTo>
                    <a:pt x="7586801" y="0"/>
                    <a:pt x="7592839" y="3395"/>
                    <a:pt x="7592839" y="7525"/>
                  </a:cubicBezTo>
                  <a:lnTo>
                    <a:pt x="7592839" y="2234485"/>
                  </a:lnTo>
                  <a:cubicBezTo>
                    <a:pt x="7592839" y="2238672"/>
                    <a:pt x="7586698" y="2242010"/>
                    <a:pt x="7579227" y="2242010"/>
                  </a:cubicBezTo>
                  <a:lnTo>
                    <a:pt x="13612" y="2242010"/>
                  </a:lnTo>
                  <a:cubicBezTo>
                    <a:pt x="6039" y="2242010"/>
                    <a:pt x="0" y="2238616"/>
                    <a:pt x="0" y="2234485"/>
                  </a:cubicBezTo>
                  <a:lnTo>
                    <a:pt x="0" y="7525"/>
                  </a:lnTo>
                  <a:cubicBezTo>
                    <a:pt x="0" y="3395"/>
                    <a:pt x="6141" y="0"/>
                    <a:pt x="13612" y="0"/>
                  </a:cubicBezTo>
                  <a:moveTo>
                    <a:pt x="13612" y="15107"/>
                  </a:moveTo>
                  <a:lnTo>
                    <a:pt x="13612" y="7525"/>
                  </a:lnTo>
                  <a:lnTo>
                    <a:pt x="27327" y="7525"/>
                  </a:lnTo>
                  <a:lnTo>
                    <a:pt x="27327" y="2234485"/>
                  </a:lnTo>
                  <a:lnTo>
                    <a:pt x="13612" y="2234485"/>
                  </a:lnTo>
                  <a:lnTo>
                    <a:pt x="13612" y="2226960"/>
                  </a:lnTo>
                  <a:lnTo>
                    <a:pt x="7579227" y="2226960"/>
                  </a:lnTo>
                  <a:lnTo>
                    <a:pt x="7579227" y="2234485"/>
                  </a:lnTo>
                  <a:lnTo>
                    <a:pt x="7565615" y="2234485"/>
                  </a:lnTo>
                  <a:lnTo>
                    <a:pt x="7565615" y="7525"/>
                  </a:lnTo>
                  <a:lnTo>
                    <a:pt x="7579227" y="7525"/>
                  </a:lnTo>
                  <a:lnTo>
                    <a:pt x="7579227" y="15107"/>
                  </a:lnTo>
                  <a:lnTo>
                    <a:pt x="13612" y="15107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424664" y="4286255"/>
            <a:ext cx="5694683" cy="720347"/>
            <a:chOff x="0" y="0"/>
            <a:chExt cx="7592911" cy="96046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3612" y="16891"/>
              <a:ext cx="7565615" cy="926592"/>
            </a:xfrm>
            <a:custGeom>
              <a:avLst/>
              <a:gdLst/>
              <a:ahLst/>
              <a:cxnLst/>
              <a:rect r="r" b="b" t="t" l="l"/>
              <a:pathLst>
                <a:path h="926592" w="7565615">
                  <a:moveTo>
                    <a:pt x="0" y="0"/>
                  </a:moveTo>
                  <a:lnTo>
                    <a:pt x="7565615" y="0"/>
                  </a:lnTo>
                  <a:lnTo>
                    <a:pt x="7565615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6A4BB5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592839" cy="960376"/>
            </a:xfrm>
            <a:custGeom>
              <a:avLst/>
              <a:gdLst/>
              <a:ahLst/>
              <a:cxnLst/>
              <a:rect r="r" b="b" t="t" l="l"/>
              <a:pathLst>
                <a:path h="960376" w="7592839">
                  <a:moveTo>
                    <a:pt x="13612" y="0"/>
                  </a:moveTo>
                  <a:lnTo>
                    <a:pt x="7579227" y="0"/>
                  </a:lnTo>
                  <a:cubicBezTo>
                    <a:pt x="7586801" y="0"/>
                    <a:pt x="7592839" y="7620"/>
                    <a:pt x="7592839" y="16891"/>
                  </a:cubicBezTo>
                  <a:lnTo>
                    <a:pt x="7592839" y="943483"/>
                  </a:lnTo>
                  <a:cubicBezTo>
                    <a:pt x="7592839" y="952881"/>
                    <a:pt x="7586698" y="960374"/>
                    <a:pt x="7579227" y="960374"/>
                  </a:cubicBezTo>
                  <a:lnTo>
                    <a:pt x="13612" y="960374"/>
                  </a:lnTo>
                  <a:cubicBezTo>
                    <a:pt x="6141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6141" y="0"/>
                    <a:pt x="13612" y="0"/>
                  </a:cubicBezTo>
                  <a:moveTo>
                    <a:pt x="13612" y="33909"/>
                  </a:moveTo>
                  <a:lnTo>
                    <a:pt x="13612" y="16891"/>
                  </a:lnTo>
                  <a:lnTo>
                    <a:pt x="27327" y="16891"/>
                  </a:lnTo>
                  <a:lnTo>
                    <a:pt x="27327" y="943483"/>
                  </a:lnTo>
                  <a:lnTo>
                    <a:pt x="13612" y="943483"/>
                  </a:lnTo>
                  <a:lnTo>
                    <a:pt x="13612" y="926592"/>
                  </a:lnTo>
                  <a:lnTo>
                    <a:pt x="7579227" y="926592"/>
                  </a:lnTo>
                  <a:lnTo>
                    <a:pt x="7579227" y="943483"/>
                  </a:lnTo>
                  <a:lnTo>
                    <a:pt x="7565615" y="943483"/>
                  </a:lnTo>
                  <a:lnTo>
                    <a:pt x="7565615" y="16891"/>
                  </a:lnTo>
                  <a:lnTo>
                    <a:pt x="7579227" y="16891"/>
                  </a:lnTo>
                  <a:lnTo>
                    <a:pt x="7579227" y="33909"/>
                  </a:lnTo>
                  <a:lnTo>
                    <a:pt x="13612" y="33909"/>
                  </a:lnTo>
                  <a:close/>
                </a:path>
              </a:pathLst>
            </a:custGeom>
            <a:solidFill>
              <a:srgbClr val="6A4BB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349991" y="4314954"/>
            <a:ext cx="5694683" cy="1652839"/>
            <a:chOff x="0" y="0"/>
            <a:chExt cx="7592911" cy="220378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3612" y="7397"/>
              <a:ext cx="7565615" cy="2188953"/>
            </a:xfrm>
            <a:custGeom>
              <a:avLst/>
              <a:gdLst/>
              <a:ahLst/>
              <a:cxnLst/>
              <a:rect r="r" b="b" t="t" l="l"/>
              <a:pathLst>
                <a:path h="2188953" w="7565615">
                  <a:moveTo>
                    <a:pt x="0" y="0"/>
                  </a:moveTo>
                  <a:lnTo>
                    <a:pt x="7565615" y="0"/>
                  </a:lnTo>
                  <a:lnTo>
                    <a:pt x="7565615" y="2188952"/>
                  </a:lnTo>
                  <a:lnTo>
                    <a:pt x="0" y="2188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592839" cy="2203746"/>
            </a:xfrm>
            <a:custGeom>
              <a:avLst/>
              <a:gdLst/>
              <a:ahLst/>
              <a:cxnLst/>
              <a:rect r="r" b="b" t="t" l="l"/>
              <a:pathLst>
                <a:path h="2203746" w="7592839">
                  <a:moveTo>
                    <a:pt x="13612" y="0"/>
                  </a:moveTo>
                  <a:lnTo>
                    <a:pt x="7579227" y="0"/>
                  </a:lnTo>
                  <a:cubicBezTo>
                    <a:pt x="7586801" y="0"/>
                    <a:pt x="7592839" y="3337"/>
                    <a:pt x="7592839" y="7397"/>
                  </a:cubicBezTo>
                  <a:lnTo>
                    <a:pt x="7592839" y="2196349"/>
                  </a:lnTo>
                  <a:cubicBezTo>
                    <a:pt x="7592839" y="2200465"/>
                    <a:pt x="7586698" y="2203746"/>
                    <a:pt x="7579227" y="2203746"/>
                  </a:cubicBezTo>
                  <a:lnTo>
                    <a:pt x="13612" y="2203746"/>
                  </a:lnTo>
                  <a:cubicBezTo>
                    <a:pt x="6039" y="2203746"/>
                    <a:pt x="0" y="2200409"/>
                    <a:pt x="0" y="2196349"/>
                  </a:cubicBezTo>
                  <a:lnTo>
                    <a:pt x="0" y="7397"/>
                  </a:lnTo>
                  <a:cubicBezTo>
                    <a:pt x="0" y="3337"/>
                    <a:pt x="6141" y="0"/>
                    <a:pt x="13612" y="0"/>
                  </a:cubicBezTo>
                  <a:moveTo>
                    <a:pt x="13612" y="14849"/>
                  </a:moveTo>
                  <a:lnTo>
                    <a:pt x="13612" y="7397"/>
                  </a:lnTo>
                  <a:lnTo>
                    <a:pt x="27327" y="7397"/>
                  </a:lnTo>
                  <a:lnTo>
                    <a:pt x="27327" y="2196349"/>
                  </a:lnTo>
                  <a:lnTo>
                    <a:pt x="13612" y="2196349"/>
                  </a:lnTo>
                  <a:lnTo>
                    <a:pt x="13612" y="2188953"/>
                  </a:lnTo>
                  <a:lnTo>
                    <a:pt x="7579227" y="2188953"/>
                  </a:lnTo>
                  <a:lnTo>
                    <a:pt x="7579227" y="2196349"/>
                  </a:lnTo>
                  <a:lnTo>
                    <a:pt x="7565615" y="2196349"/>
                  </a:lnTo>
                  <a:lnTo>
                    <a:pt x="7565615" y="7397"/>
                  </a:lnTo>
                  <a:lnTo>
                    <a:pt x="7579227" y="7397"/>
                  </a:lnTo>
                  <a:lnTo>
                    <a:pt x="7579227" y="14849"/>
                  </a:lnTo>
                  <a:lnTo>
                    <a:pt x="13612" y="1484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349991" y="4314954"/>
            <a:ext cx="5694683" cy="720347"/>
            <a:chOff x="0" y="0"/>
            <a:chExt cx="7592911" cy="9604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3612" y="16891"/>
              <a:ext cx="7565615" cy="926592"/>
            </a:xfrm>
            <a:custGeom>
              <a:avLst/>
              <a:gdLst/>
              <a:ahLst/>
              <a:cxnLst/>
              <a:rect r="r" b="b" t="t" l="l"/>
              <a:pathLst>
                <a:path h="926592" w="7565615">
                  <a:moveTo>
                    <a:pt x="0" y="0"/>
                  </a:moveTo>
                  <a:lnTo>
                    <a:pt x="7565615" y="0"/>
                  </a:lnTo>
                  <a:lnTo>
                    <a:pt x="7565615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6A4BB5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592839" cy="960376"/>
            </a:xfrm>
            <a:custGeom>
              <a:avLst/>
              <a:gdLst/>
              <a:ahLst/>
              <a:cxnLst/>
              <a:rect r="r" b="b" t="t" l="l"/>
              <a:pathLst>
                <a:path h="960376" w="7592839">
                  <a:moveTo>
                    <a:pt x="13612" y="0"/>
                  </a:moveTo>
                  <a:lnTo>
                    <a:pt x="7579227" y="0"/>
                  </a:lnTo>
                  <a:cubicBezTo>
                    <a:pt x="7586801" y="0"/>
                    <a:pt x="7592839" y="7620"/>
                    <a:pt x="7592839" y="16891"/>
                  </a:cubicBezTo>
                  <a:lnTo>
                    <a:pt x="7592839" y="943483"/>
                  </a:lnTo>
                  <a:cubicBezTo>
                    <a:pt x="7592839" y="952881"/>
                    <a:pt x="7586698" y="960374"/>
                    <a:pt x="7579227" y="960374"/>
                  </a:cubicBezTo>
                  <a:lnTo>
                    <a:pt x="13612" y="960374"/>
                  </a:lnTo>
                  <a:cubicBezTo>
                    <a:pt x="6141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6141" y="0"/>
                    <a:pt x="13612" y="0"/>
                  </a:cubicBezTo>
                  <a:moveTo>
                    <a:pt x="13612" y="33909"/>
                  </a:moveTo>
                  <a:lnTo>
                    <a:pt x="13612" y="16891"/>
                  </a:lnTo>
                  <a:lnTo>
                    <a:pt x="27327" y="16891"/>
                  </a:lnTo>
                  <a:lnTo>
                    <a:pt x="27327" y="943483"/>
                  </a:lnTo>
                  <a:lnTo>
                    <a:pt x="13612" y="943483"/>
                  </a:lnTo>
                  <a:lnTo>
                    <a:pt x="13612" y="926592"/>
                  </a:lnTo>
                  <a:lnTo>
                    <a:pt x="7579227" y="926592"/>
                  </a:lnTo>
                  <a:lnTo>
                    <a:pt x="7579227" y="943483"/>
                  </a:lnTo>
                  <a:lnTo>
                    <a:pt x="7565615" y="943483"/>
                  </a:lnTo>
                  <a:lnTo>
                    <a:pt x="7565615" y="16891"/>
                  </a:lnTo>
                  <a:lnTo>
                    <a:pt x="7579227" y="16891"/>
                  </a:lnTo>
                  <a:lnTo>
                    <a:pt x="7579227" y="33909"/>
                  </a:lnTo>
                  <a:lnTo>
                    <a:pt x="13612" y="33909"/>
                  </a:lnTo>
                  <a:close/>
                </a:path>
              </a:pathLst>
            </a:custGeom>
            <a:solidFill>
              <a:srgbClr val="6A4BB5"/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2748468" y="6024942"/>
            <a:ext cx="13412857" cy="4136384"/>
          </a:xfrm>
          <a:custGeom>
            <a:avLst/>
            <a:gdLst/>
            <a:ahLst/>
            <a:cxnLst/>
            <a:rect r="r" b="b" t="t" l="l"/>
            <a:pathLst>
              <a:path h="4136384" w="13412857">
                <a:moveTo>
                  <a:pt x="0" y="0"/>
                </a:moveTo>
                <a:lnTo>
                  <a:pt x="13412856" y="0"/>
                </a:lnTo>
                <a:lnTo>
                  <a:pt x="13412856" y="4136385"/>
                </a:lnTo>
                <a:lnTo>
                  <a:pt x="0" y="41363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42" r="0" b="-14393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731520" y="2027682"/>
            <a:ext cx="530352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Task Generator</a:t>
            </a:r>
          </a:p>
          <a:p>
            <a:pPr algn="l">
              <a:lnSpc>
                <a:spcPts val="3120"/>
              </a:lnSpc>
            </a:pPr>
          </a:p>
        </p:txBody>
      </p:sp>
      <p:sp>
        <p:nvSpPr>
          <p:cNvPr name="TextBox 51" id="51"/>
          <p:cNvSpPr txBox="true"/>
          <p:nvPr/>
        </p:nvSpPr>
        <p:spPr>
          <a:xfrm rot="0">
            <a:off x="782317" y="2874388"/>
            <a:ext cx="5201917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Gener</a:t>
            </a: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ates tasks with random execution times and dependencies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6656832" y="2027682"/>
            <a:ext cx="530352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DAG C</a:t>
            </a:r>
            <a:r>
              <a:rPr lang="en-US" b="true" sz="2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onstructor</a:t>
            </a:r>
          </a:p>
          <a:p>
            <a:pPr algn="l">
              <a:lnSpc>
                <a:spcPts val="3120"/>
              </a:lnSpc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6707629" y="2874388"/>
            <a:ext cx="520191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B</a:t>
            </a: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uilds dependency graph ensuring no cycles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54" id="54"/>
          <p:cNvSpPr txBox="true"/>
          <p:nvPr/>
        </p:nvSpPr>
        <p:spPr>
          <a:xfrm rot="0">
            <a:off x="12582144" y="2027682"/>
            <a:ext cx="530352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Scheduler </a:t>
            </a:r>
            <a:r>
              <a:rPr lang="en-US" b="true" sz="2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</a:t>
            </a:r>
          </a:p>
          <a:p>
            <a:pPr algn="l">
              <a:lnSpc>
                <a:spcPts val="3120"/>
              </a:lnSpc>
            </a:pPr>
          </a:p>
        </p:txBody>
      </p:sp>
      <p:sp>
        <p:nvSpPr>
          <p:cNvPr name="TextBox 55" id="55"/>
          <p:cNvSpPr txBox="true"/>
          <p:nvPr/>
        </p:nvSpPr>
        <p:spPr>
          <a:xfrm rot="0">
            <a:off x="12632941" y="2874388"/>
            <a:ext cx="5201917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Appli</a:t>
            </a: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es algorithm (FCFS, RR, Min-Min, Max-Min, Load-Aware)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782302" y="5104509"/>
            <a:ext cx="515569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Ex</a:t>
            </a: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ecutes tasks using OpenMP across processors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57" id="57"/>
          <p:cNvSpPr txBox="true"/>
          <p:nvPr/>
        </p:nvSpPr>
        <p:spPr>
          <a:xfrm rot="0">
            <a:off x="6611755" y="4314954"/>
            <a:ext cx="537944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Metrics C</a:t>
            </a:r>
            <a:r>
              <a:rPr lang="en-US" b="true" sz="2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alculator</a:t>
            </a:r>
          </a:p>
          <a:p>
            <a:pPr algn="l">
              <a:lnSpc>
                <a:spcPts val="3120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6652692" y="5161659"/>
            <a:ext cx="5297565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C</a:t>
            </a: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omputes makespan, utilization, speedup, imbalance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59" id="59"/>
          <p:cNvSpPr txBox="true"/>
          <p:nvPr/>
        </p:nvSpPr>
        <p:spPr>
          <a:xfrm rot="0">
            <a:off x="12537082" y="4343652"/>
            <a:ext cx="537944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Storage + Vis</a:t>
            </a:r>
            <a:r>
              <a:rPr lang="en-US" b="true" sz="2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ualization</a:t>
            </a:r>
          </a:p>
          <a:p>
            <a:pPr algn="l">
              <a:lnSpc>
                <a:spcPts val="3120"/>
              </a:lnSpc>
            </a:pPr>
          </a:p>
        </p:txBody>
      </p:sp>
      <p:sp>
        <p:nvSpPr>
          <p:cNvPr name="TextBox 60" id="60"/>
          <p:cNvSpPr txBox="true"/>
          <p:nvPr/>
        </p:nvSpPr>
        <p:spPr>
          <a:xfrm rot="0">
            <a:off x="12578019" y="5190358"/>
            <a:ext cx="529756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St</a:t>
            </a: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ores results in CSV and generates graphs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0263" y="499367"/>
            <a:ext cx="135131" cy="939803"/>
            <a:chOff x="0" y="0"/>
            <a:chExt cx="180175" cy="1253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252984"/>
            </a:xfrm>
            <a:custGeom>
              <a:avLst/>
              <a:gdLst/>
              <a:ahLst/>
              <a:cxnLst/>
              <a:rect r="r" b="b" t="t" l="l"/>
              <a:pathLst>
                <a:path h="125298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236091"/>
                  </a:lnTo>
                  <a:cubicBezTo>
                    <a:pt x="180086" y="1245489"/>
                    <a:pt x="172466" y="1252982"/>
                    <a:pt x="163195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63195" y="1219200"/>
                  </a:lnTo>
                  <a:lnTo>
                    <a:pt x="163195" y="1236091"/>
                  </a:lnTo>
                  <a:lnTo>
                    <a:pt x="146304" y="12360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457200"/>
            <a:ext cx="16642080" cy="768096"/>
            <a:chOff x="0" y="0"/>
            <a:chExt cx="22189440" cy="1024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1894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b="true" sz="4000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Metrics — Definitions &amp; Formulas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5220">
            <a:off x="810254" y="1494854"/>
            <a:ext cx="16667502" cy="0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27383" y="1998983"/>
            <a:ext cx="8474459" cy="3902459"/>
            <a:chOff x="0" y="0"/>
            <a:chExt cx="11299279" cy="52032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11265408" cy="5169408"/>
            </a:xfrm>
            <a:custGeom>
              <a:avLst/>
              <a:gdLst/>
              <a:ahLst/>
              <a:cxnLst/>
              <a:rect r="r" b="b" t="t" l="l"/>
              <a:pathLst>
                <a:path h="5169408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99190" cy="5203190"/>
            </a:xfrm>
            <a:custGeom>
              <a:avLst/>
              <a:gdLst/>
              <a:ahLst/>
              <a:cxnLst/>
              <a:rect r="r" b="b" t="t" l="l"/>
              <a:pathLst>
                <a:path h="5203190" w="11299190">
                  <a:moveTo>
                    <a:pt x="16891" y="0"/>
                  </a:moveTo>
                  <a:lnTo>
                    <a:pt x="11282299" y="0"/>
                  </a:lnTo>
                  <a:cubicBezTo>
                    <a:pt x="11291697" y="0"/>
                    <a:pt x="11299190" y="7620"/>
                    <a:pt x="11299190" y="16891"/>
                  </a:cubicBezTo>
                  <a:lnTo>
                    <a:pt x="11299190" y="5186299"/>
                  </a:lnTo>
                  <a:cubicBezTo>
                    <a:pt x="11299190" y="5195697"/>
                    <a:pt x="11291570" y="5203190"/>
                    <a:pt x="11282299" y="5203190"/>
                  </a:cubicBezTo>
                  <a:lnTo>
                    <a:pt x="16891" y="5203190"/>
                  </a:lnTo>
                  <a:cubicBezTo>
                    <a:pt x="7493" y="5203190"/>
                    <a:pt x="0" y="5195570"/>
                    <a:pt x="0" y="5186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86299"/>
                  </a:lnTo>
                  <a:lnTo>
                    <a:pt x="16891" y="5186299"/>
                  </a:lnTo>
                  <a:lnTo>
                    <a:pt x="16891" y="5169408"/>
                  </a:lnTo>
                  <a:lnTo>
                    <a:pt x="11282299" y="5169408"/>
                  </a:lnTo>
                  <a:lnTo>
                    <a:pt x="11282299" y="5186299"/>
                  </a:lnTo>
                  <a:lnTo>
                    <a:pt x="11265408" y="5186299"/>
                  </a:lnTo>
                  <a:lnTo>
                    <a:pt x="11265408" y="16891"/>
                  </a:lnTo>
                  <a:lnTo>
                    <a:pt x="11282299" y="16891"/>
                  </a:lnTo>
                  <a:lnTo>
                    <a:pt x="11282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65197" y="2188207"/>
            <a:ext cx="6299197" cy="50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Makespan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393943" y="2218439"/>
            <a:ext cx="1525019" cy="464315"/>
            <a:chOff x="0" y="0"/>
            <a:chExt cx="2033359" cy="619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999488" cy="585216"/>
            </a:xfrm>
            <a:custGeom>
              <a:avLst/>
              <a:gdLst/>
              <a:ahLst/>
              <a:cxnLst/>
              <a:rect r="r" b="b" t="t" l="l"/>
              <a:pathLst>
                <a:path h="585216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C9404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33270" cy="619000"/>
            </a:xfrm>
            <a:custGeom>
              <a:avLst/>
              <a:gdLst/>
              <a:ahLst/>
              <a:cxnLst/>
              <a:rect r="r" b="b" t="t" l="l"/>
              <a:pathLst>
                <a:path h="619000" w="2033270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602107"/>
                  </a:lnTo>
                  <a:cubicBezTo>
                    <a:pt x="2033270" y="611505"/>
                    <a:pt x="2025650" y="618998"/>
                    <a:pt x="2016379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2016379" y="585216"/>
                  </a:lnTo>
                  <a:lnTo>
                    <a:pt x="2016379" y="602107"/>
                  </a:lnTo>
                  <a:lnTo>
                    <a:pt x="1999488" y="602107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404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370064" y="2212848"/>
            <a:ext cx="1572768" cy="475488"/>
            <a:chOff x="0" y="0"/>
            <a:chExt cx="2097024" cy="6339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 Lower is better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46839" y="2858519"/>
            <a:ext cx="7998971" cy="610619"/>
            <a:chOff x="0" y="0"/>
            <a:chExt cx="10665295" cy="8141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10631424" cy="780288"/>
            </a:xfrm>
            <a:custGeom>
              <a:avLst/>
              <a:gdLst/>
              <a:ahLst/>
              <a:cxnLst/>
              <a:rect r="r" b="b" t="t" l="l"/>
              <a:pathLst>
                <a:path h="780288" w="10631424">
                  <a:moveTo>
                    <a:pt x="0" y="0"/>
                  </a:moveTo>
                  <a:lnTo>
                    <a:pt x="10631424" y="0"/>
                  </a:lnTo>
                  <a:lnTo>
                    <a:pt x="10631424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65206" cy="814072"/>
            </a:xfrm>
            <a:custGeom>
              <a:avLst/>
              <a:gdLst/>
              <a:ahLst/>
              <a:cxnLst/>
              <a:rect r="r" b="b" t="t" l="l"/>
              <a:pathLst>
                <a:path h="814072" w="10665206">
                  <a:moveTo>
                    <a:pt x="16891" y="0"/>
                  </a:moveTo>
                  <a:lnTo>
                    <a:pt x="10648315" y="0"/>
                  </a:lnTo>
                  <a:cubicBezTo>
                    <a:pt x="10657713" y="0"/>
                    <a:pt x="10665206" y="7620"/>
                    <a:pt x="10665206" y="16891"/>
                  </a:cubicBezTo>
                  <a:lnTo>
                    <a:pt x="10665206" y="797179"/>
                  </a:lnTo>
                  <a:cubicBezTo>
                    <a:pt x="10665206" y="806577"/>
                    <a:pt x="10657586" y="814070"/>
                    <a:pt x="10648315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0648315" y="780288"/>
                  </a:lnTo>
                  <a:lnTo>
                    <a:pt x="10648315" y="797179"/>
                  </a:lnTo>
                  <a:lnTo>
                    <a:pt x="10631424" y="797179"/>
                  </a:lnTo>
                  <a:lnTo>
                    <a:pt x="10631424" y="16891"/>
                  </a:lnTo>
                  <a:lnTo>
                    <a:pt x="10648315" y="16891"/>
                  </a:lnTo>
                  <a:lnTo>
                    <a:pt x="106483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69264" y="2860167"/>
            <a:ext cx="7754112" cy="559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max( finish_time[i] )  for all tasks 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5197" y="3660772"/>
            <a:ext cx="7762237" cy="19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Total elapsed time from start until the last task completes. The primary throughput metric — lower is better.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42199" y="1998983"/>
            <a:ext cx="8474459" cy="3902459"/>
            <a:chOff x="0" y="0"/>
            <a:chExt cx="11299279" cy="52032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1265408" cy="5169408"/>
            </a:xfrm>
            <a:custGeom>
              <a:avLst/>
              <a:gdLst/>
              <a:ahLst/>
              <a:cxnLst/>
              <a:rect r="r" b="b" t="t" l="l"/>
              <a:pathLst>
                <a:path h="5169408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99190" cy="5203190"/>
            </a:xfrm>
            <a:custGeom>
              <a:avLst/>
              <a:gdLst/>
              <a:ahLst/>
              <a:cxnLst/>
              <a:rect r="r" b="b" t="t" l="l"/>
              <a:pathLst>
                <a:path h="5203190" w="11299190">
                  <a:moveTo>
                    <a:pt x="16891" y="0"/>
                  </a:moveTo>
                  <a:lnTo>
                    <a:pt x="11282299" y="0"/>
                  </a:lnTo>
                  <a:cubicBezTo>
                    <a:pt x="11291697" y="0"/>
                    <a:pt x="11299190" y="7620"/>
                    <a:pt x="11299190" y="16891"/>
                  </a:cubicBezTo>
                  <a:lnTo>
                    <a:pt x="11299190" y="5186299"/>
                  </a:lnTo>
                  <a:cubicBezTo>
                    <a:pt x="11299190" y="5195697"/>
                    <a:pt x="11291570" y="5203190"/>
                    <a:pt x="11282299" y="5203190"/>
                  </a:cubicBezTo>
                  <a:lnTo>
                    <a:pt x="16891" y="5203190"/>
                  </a:lnTo>
                  <a:cubicBezTo>
                    <a:pt x="7493" y="5203190"/>
                    <a:pt x="0" y="5195570"/>
                    <a:pt x="0" y="5186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86299"/>
                  </a:lnTo>
                  <a:lnTo>
                    <a:pt x="16891" y="5186299"/>
                  </a:lnTo>
                  <a:lnTo>
                    <a:pt x="16891" y="5169408"/>
                  </a:lnTo>
                  <a:lnTo>
                    <a:pt x="11282299" y="5169408"/>
                  </a:lnTo>
                  <a:lnTo>
                    <a:pt x="11282299" y="5186299"/>
                  </a:lnTo>
                  <a:lnTo>
                    <a:pt x="11265408" y="5186299"/>
                  </a:lnTo>
                  <a:lnTo>
                    <a:pt x="11265408" y="16891"/>
                  </a:lnTo>
                  <a:lnTo>
                    <a:pt x="11282299" y="16891"/>
                  </a:lnTo>
                  <a:lnTo>
                    <a:pt x="11282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780013" y="2188207"/>
            <a:ext cx="6299197" cy="50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Speedup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208759" y="2218439"/>
            <a:ext cx="1525019" cy="464315"/>
            <a:chOff x="0" y="0"/>
            <a:chExt cx="2033359" cy="61908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999488" cy="585216"/>
            </a:xfrm>
            <a:custGeom>
              <a:avLst/>
              <a:gdLst/>
              <a:ahLst/>
              <a:cxnLst/>
              <a:rect r="r" b="b" t="t" l="l"/>
              <a:pathLst>
                <a:path h="585216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3DAA6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33270" cy="619000"/>
            </a:xfrm>
            <a:custGeom>
              <a:avLst/>
              <a:gdLst/>
              <a:ahLst/>
              <a:cxnLst/>
              <a:rect r="r" b="b" t="t" l="l"/>
              <a:pathLst>
                <a:path h="619000" w="2033270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602107"/>
                  </a:lnTo>
                  <a:cubicBezTo>
                    <a:pt x="2033270" y="611505"/>
                    <a:pt x="2025650" y="618998"/>
                    <a:pt x="2016379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2016379" y="585216"/>
                  </a:lnTo>
                  <a:lnTo>
                    <a:pt x="2016379" y="602107"/>
                  </a:lnTo>
                  <a:lnTo>
                    <a:pt x="1999488" y="602107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AA6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184880" y="2212848"/>
            <a:ext cx="1572768" cy="475488"/>
            <a:chOff x="0" y="0"/>
            <a:chExt cx="2097024" cy="6339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↑ Higher is better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61655" y="2858519"/>
            <a:ext cx="7998971" cy="610619"/>
            <a:chOff x="0" y="0"/>
            <a:chExt cx="10665295" cy="81415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0631424" cy="780288"/>
            </a:xfrm>
            <a:custGeom>
              <a:avLst/>
              <a:gdLst/>
              <a:ahLst/>
              <a:cxnLst/>
              <a:rect r="r" b="b" t="t" l="l"/>
              <a:pathLst>
                <a:path h="780288" w="10631424">
                  <a:moveTo>
                    <a:pt x="0" y="0"/>
                  </a:moveTo>
                  <a:lnTo>
                    <a:pt x="10631424" y="0"/>
                  </a:lnTo>
                  <a:lnTo>
                    <a:pt x="10631424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65206" cy="814072"/>
            </a:xfrm>
            <a:custGeom>
              <a:avLst/>
              <a:gdLst/>
              <a:ahLst/>
              <a:cxnLst/>
              <a:rect r="r" b="b" t="t" l="l"/>
              <a:pathLst>
                <a:path h="814072" w="10665206">
                  <a:moveTo>
                    <a:pt x="16891" y="0"/>
                  </a:moveTo>
                  <a:lnTo>
                    <a:pt x="10648315" y="0"/>
                  </a:lnTo>
                  <a:cubicBezTo>
                    <a:pt x="10657713" y="0"/>
                    <a:pt x="10665206" y="7620"/>
                    <a:pt x="10665206" y="16891"/>
                  </a:cubicBezTo>
                  <a:lnTo>
                    <a:pt x="10665206" y="797179"/>
                  </a:lnTo>
                  <a:cubicBezTo>
                    <a:pt x="10665206" y="806577"/>
                    <a:pt x="10657586" y="814070"/>
                    <a:pt x="10648315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0648315" y="780288"/>
                  </a:lnTo>
                  <a:lnTo>
                    <a:pt x="10648315" y="797179"/>
                  </a:lnTo>
                  <a:lnTo>
                    <a:pt x="10631424" y="797179"/>
                  </a:lnTo>
                  <a:lnTo>
                    <a:pt x="10631424" y="16891"/>
                  </a:lnTo>
                  <a:lnTo>
                    <a:pt x="10648315" y="16891"/>
                  </a:lnTo>
                  <a:lnTo>
                    <a:pt x="106483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784080" y="2860167"/>
            <a:ext cx="7754112" cy="559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Sequential_Time  /  Makespan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80013" y="3660772"/>
            <a:ext cx="7762237" cy="19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How many times faster parallel execution is vs. running all tasks sequentially on one processor.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27383" y="6205223"/>
            <a:ext cx="8474459" cy="3902459"/>
            <a:chOff x="0" y="0"/>
            <a:chExt cx="11299279" cy="520327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11265408" cy="5169408"/>
            </a:xfrm>
            <a:custGeom>
              <a:avLst/>
              <a:gdLst/>
              <a:ahLst/>
              <a:cxnLst/>
              <a:rect r="r" b="b" t="t" l="l"/>
              <a:pathLst>
                <a:path h="5169408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99190" cy="5203190"/>
            </a:xfrm>
            <a:custGeom>
              <a:avLst/>
              <a:gdLst/>
              <a:ahLst/>
              <a:cxnLst/>
              <a:rect r="r" b="b" t="t" l="l"/>
              <a:pathLst>
                <a:path h="5203190" w="11299190">
                  <a:moveTo>
                    <a:pt x="16891" y="0"/>
                  </a:moveTo>
                  <a:lnTo>
                    <a:pt x="11282299" y="0"/>
                  </a:lnTo>
                  <a:cubicBezTo>
                    <a:pt x="11291697" y="0"/>
                    <a:pt x="11299190" y="7620"/>
                    <a:pt x="11299190" y="16891"/>
                  </a:cubicBezTo>
                  <a:lnTo>
                    <a:pt x="11299190" y="5186299"/>
                  </a:lnTo>
                  <a:cubicBezTo>
                    <a:pt x="11299190" y="5195697"/>
                    <a:pt x="11291570" y="5203190"/>
                    <a:pt x="11282299" y="5203190"/>
                  </a:cubicBezTo>
                  <a:lnTo>
                    <a:pt x="16891" y="5203190"/>
                  </a:lnTo>
                  <a:cubicBezTo>
                    <a:pt x="7493" y="5203190"/>
                    <a:pt x="0" y="5195570"/>
                    <a:pt x="0" y="5186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86299"/>
                  </a:lnTo>
                  <a:lnTo>
                    <a:pt x="16891" y="5186299"/>
                  </a:lnTo>
                  <a:lnTo>
                    <a:pt x="16891" y="5169408"/>
                  </a:lnTo>
                  <a:lnTo>
                    <a:pt x="11282299" y="5169408"/>
                  </a:lnTo>
                  <a:lnTo>
                    <a:pt x="11282299" y="5186299"/>
                  </a:lnTo>
                  <a:lnTo>
                    <a:pt x="11265408" y="5186299"/>
                  </a:lnTo>
                  <a:lnTo>
                    <a:pt x="11265408" y="16891"/>
                  </a:lnTo>
                  <a:lnTo>
                    <a:pt x="11282299" y="16891"/>
                  </a:lnTo>
                  <a:lnTo>
                    <a:pt x="11282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65197" y="6394447"/>
            <a:ext cx="6299197" cy="50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CPU Utilization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7393943" y="6424679"/>
            <a:ext cx="1525019" cy="464315"/>
            <a:chOff x="0" y="0"/>
            <a:chExt cx="2033359" cy="61908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1999488" cy="585216"/>
            </a:xfrm>
            <a:custGeom>
              <a:avLst/>
              <a:gdLst/>
              <a:ahLst/>
              <a:cxnLst/>
              <a:rect r="r" b="b" t="t" l="l"/>
              <a:pathLst>
                <a:path h="585216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3DAA6E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33270" cy="619000"/>
            </a:xfrm>
            <a:custGeom>
              <a:avLst/>
              <a:gdLst/>
              <a:ahLst/>
              <a:cxnLst/>
              <a:rect r="r" b="b" t="t" l="l"/>
              <a:pathLst>
                <a:path h="619000" w="2033270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602107"/>
                  </a:lnTo>
                  <a:cubicBezTo>
                    <a:pt x="2033270" y="611505"/>
                    <a:pt x="2025650" y="618998"/>
                    <a:pt x="2016379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2016379" y="585216"/>
                  </a:lnTo>
                  <a:lnTo>
                    <a:pt x="2016379" y="602107"/>
                  </a:lnTo>
                  <a:lnTo>
                    <a:pt x="1999488" y="602107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AA6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370064" y="6419088"/>
            <a:ext cx="1572768" cy="475488"/>
            <a:chOff x="0" y="0"/>
            <a:chExt cx="2097024" cy="6339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↑ Higher is better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46839" y="7064759"/>
            <a:ext cx="7998971" cy="610619"/>
            <a:chOff x="0" y="0"/>
            <a:chExt cx="10665295" cy="81415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0631424" cy="780288"/>
            </a:xfrm>
            <a:custGeom>
              <a:avLst/>
              <a:gdLst/>
              <a:ahLst/>
              <a:cxnLst/>
              <a:rect r="r" b="b" t="t" l="l"/>
              <a:pathLst>
                <a:path h="780288" w="10631424">
                  <a:moveTo>
                    <a:pt x="0" y="0"/>
                  </a:moveTo>
                  <a:lnTo>
                    <a:pt x="10631424" y="0"/>
                  </a:lnTo>
                  <a:lnTo>
                    <a:pt x="10631424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65206" cy="814072"/>
            </a:xfrm>
            <a:custGeom>
              <a:avLst/>
              <a:gdLst/>
              <a:ahLst/>
              <a:cxnLst/>
              <a:rect r="r" b="b" t="t" l="l"/>
              <a:pathLst>
                <a:path h="814072" w="10665206">
                  <a:moveTo>
                    <a:pt x="16891" y="0"/>
                  </a:moveTo>
                  <a:lnTo>
                    <a:pt x="10648315" y="0"/>
                  </a:lnTo>
                  <a:cubicBezTo>
                    <a:pt x="10657713" y="0"/>
                    <a:pt x="10665206" y="7620"/>
                    <a:pt x="10665206" y="16891"/>
                  </a:cubicBezTo>
                  <a:lnTo>
                    <a:pt x="10665206" y="797179"/>
                  </a:lnTo>
                  <a:cubicBezTo>
                    <a:pt x="10665206" y="806577"/>
                    <a:pt x="10657586" y="814070"/>
                    <a:pt x="10648315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0648315" y="780288"/>
                  </a:lnTo>
                  <a:lnTo>
                    <a:pt x="10648315" y="797179"/>
                  </a:lnTo>
                  <a:lnTo>
                    <a:pt x="10631424" y="797179"/>
                  </a:lnTo>
                  <a:lnTo>
                    <a:pt x="10631424" y="16891"/>
                  </a:lnTo>
                  <a:lnTo>
                    <a:pt x="10648315" y="16891"/>
                  </a:lnTo>
                  <a:lnTo>
                    <a:pt x="106483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969264" y="7066407"/>
            <a:ext cx="7754112" cy="559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[ Σ (busy_time[p] / Makespan) ] / P  × 100%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65197" y="7867012"/>
            <a:ext cx="7762237" cy="19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fraction of time each processor does useful work. Low utilization means processors are sitting idle.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442199" y="6205223"/>
            <a:ext cx="8474459" cy="3902459"/>
            <a:chOff x="0" y="0"/>
            <a:chExt cx="11299279" cy="520327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11265408" cy="5169408"/>
            </a:xfrm>
            <a:custGeom>
              <a:avLst/>
              <a:gdLst/>
              <a:ahLst/>
              <a:cxnLst/>
              <a:rect r="r" b="b" t="t" l="l"/>
              <a:pathLst>
                <a:path h="5169408" w="11265408">
                  <a:moveTo>
                    <a:pt x="0" y="0"/>
                  </a:moveTo>
                  <a:lnTo>
                    <a:pt x="11265408" y="0"/>
                  </a:lnTo>
                  <a:lnTo>
                    <a:pt x="11265408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299190" cy="5203190"/>
            </a:xfrm>
            <a:custGeom>
              <a:avLst/>
              <a:gdLst/>
              <a:ahLst/>
              <a:cxnLst/>
              <a:rect r="r" b="b" t="t" l="l"/>
              <a:pathLst>
                <a:path h="5203190" w="11299190">
                  <a:moveTo>
                    <a:pt x="16891" y="0"/>
                  </a:moveTo>
                  <a:lnTo>
                    <a:pt x="11282299" y="0"/>
                  </a:lnTo>
                  <a:cubicBezTo>
                    <a:pt x="11291697" y="0"/>
                    <a:pt x="11299190" y="7620"/>
                    <a:pt x="11299190" y="16891"/>
                  </a:cubicBezTo>
                  <a:lnTo>
                    <a:pt x="11299190" y="5186299"/>
                  </a:lnTo>
                  <a:cubicBezTo>
                    <a:pt x="11299190" y="5195697"/>
                    <a:pt x="11291570" y="5203190"/>
                    <a:pt x="11282299" y="5203190"/>
                  </a:cubicBezTo>
                  <a:lnTo>
                    <a:pt x="16891" y="5203190"/>
                  </a:lnTo>
                  <a:cubicBezTo>
                    <a:pt x="7493" y="5203190"/>
                    <a:pt x="0" y="5195570"/>
                    <a:pt x="0" y="5186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86299"/>
                  </a:lnTo>
                  <a:lnTo>
                    <a:pt x="16891" y="5186299"/>
                  </a:lnTo>
                  <a:lnTo>
                    <a:pt x="16891" y="5169408"/>
                  </a:lnTo>
                  <a:lnTo>
                    <a:pt x="11282299" y="5169408"/>
                  </a:lnTo>
                  <a:lnTo>
                    <a:pt x="11282299" y="5186299"/>
                  </a:lnTo>
                  <a:lnTo>
                    <a:pt x="11265408" y="5186299"/>
                  </a:lnTo>
                  <a:lnTo>
                    <a:pt x="11265408" y="16891"/>
                  </a:lnTo>
                  <a:lnTo>
                    <a:pt x="11282299" y="16891"/>
                  </a:lnTo>
                  <a:lnTo>
                    <a:pt x="11282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9780013" y="6394447"/>
            <a:ext cx="6299197" cy="50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 Imbalance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6208759" y="6424679"/>
            <a:ext cx="1525019" cy="464315"/>
            <a:chOff x="0" y="0"/>
            <a:chExt cx="2033359" cy="61908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1999488" cy="585216"/>
            </a:xfrm>
            <a:custGeom>
              <a:avLst/>
              <a:gdLst/>
              <a:ahLst/>
              <a:cxnLst/>
              <a:rect r="r" b="b" t="t" l="l"/>
              <a:pathLst>
                <a:path h="585216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C94040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33270" cy="619000"/>
            </a:xfrm>
            <a:custGeom>
              <a:avLst/>
              <a:gdLst/>
              <a:ahLst/>
              <a:cxnLst/>
              <a:rect r="r" b="b" t="t" l="l"/>
              <a:pathLst>
                <a:path h="619000" w="2033270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602107"/>
                  </a:lnTo>
                  <a:cubicBezTo>
                    <a:pt x="2033270" y="611505"/>
                    <a:pt x="2025650" y="618998"/>
                    <a:pt x="2016379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2016379" y="585216"/>
                  </a:lnTo>
                  <a:lnTo>
                    <a:pt x="2016379" y="602107"/>
                  </a:lnTo>
                  <a:lnTo>
                    <a:pt x="1999488" y="602107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404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6184880" y="6419088"/>
            <a:ext cx="1572768" cy="475488"/>
            <a:chOff x="0" y="0"/>
            <a:chExt cx="2097024" cy="6339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 Lower is better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661655" y="7064759"/>
            <a:ext cx="7998971" cy="610619"/>
            <a:chOff x="0" y="0"/>
            <a:chExt cx="10665295" cy="81415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10631424" cy="780288"/>
            </a:xfrm>
            <a:custGeom>
              <a:avLst/>
              <a:gdLst/>
              <a:ahLst/>
              <a:cxnLst/>
              <a:rect r="r" b="b" t="t" l="l"/>
              <a:pathLst>
                <a:path h="780288" w="10631424">
                  <a:moveTo>
                    <a:pt x="0" y="0"/>
                  </a:moveTo>
                  <a:lnTo>
                    <a:pt x="10631424" y="0"/>
                  </a:lnTo>
                  <a:lnTo>
                    <a:pt x="10631424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65206" cy="814072"/>
            </a:xfrm>
            <a:custGeom>
              <a:avLst/>
              <a:gdLst/>
              <a:ahLst/>
              <a:cxnLst/>
              <a:rect r="r" b="b" t="t" l="l"/>
              <a:pathLst>
                <a:path h="814072" w="10665206">
                  <a:moveTo>
                    <a:pt x="16891" y="0"/>
                  </a:moveTo>
                  <a:lnTo>
                    <a:pt x="10648315" y="0"/>
                  </a:lnTo>
                  <a:cubicBezTo>
                    <a:pt x="10657713" y="0"/>
                    <a:pt x="10665206" y="7620"/>
                    <a:pt x="10665206" y="16891"/>
                  </a:cubicBezTo>
                  <a:lnTo>
                    <a:pt x="10665206" y="797179"/>
                  </a:lnTo>
                  <a:cubicBezTo>
                    <a:pt x="10665206" y="806577"/>
                    <a:pt x="10657586" y="814070"/>
                    <a:pt x="10648315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0648315" y="780288"/>
                  </a:lnTo>
                  <a:lnTo>
                    <a:pt x="10648315" y="797179"/>
                  </a:lnTo>
                  <a:lnTo>
                    <a:pt x="10631424" y="797179"/>
                  </a:lnTo>
                  <a:lnTo>
                    <a:pt x="10631424" y="16891"/>
                  </a:lnTo>
                  <a:lnTo>
                    <a:pt x="10648315" y="16891"/>
                  </a:lnTo>
                  <a:lnTo>
                    <a:pt x="106483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9784080" y="7066407"/>
            <a:ext cx="7754112" cy="559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( max_busy − min_busy )  /  avg_busy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780013" y="7867012"/>
            <a:ext cx="7762237" cy="19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How unevenly work is distributed. 0 = perfect balance. High values mean some processors are overloaded while others idle.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0263" y="499367"/>
            <a:ext cx="135131" cy="1397003"/>
            <a:chOff x="0" y="0"/>
            <a:chExt cx="180175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862582"/>
            </a:xfrm>
            <a:custGeom>
              <a:avLst/>
              <a:gdLst/>
              <a:ahLst/>
              <a:cxnLst/>
              <a:rect r="r" b="b" t="t" l="l"/>
              <a:pathLst>
                <a:path h="18625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845691"/>
                  </a:lnTo>
                  <a:cubicBezTo>
                    <a:pt x="180086" y="1855089"/>
                    <a:pt x="172466" y="1862582"/>
                    <a:pt x="163195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63195" y="1828800"/>
                  </a:lnTo>
                  <a:lnTo>
                    <a:pt x="163195" y="1845691"/>
                  </a:lnTo>
                  <a:lnTo>
                    <a:pt x="146304" y="18456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457200"/>
            <a:ext cx="16642080" cy="768096"/>
            <a:chOff x="0" y="0"/>
            <a:chExt cx="22189440" cy="1024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1894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b="true" sz="4000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Scheduling Algorithms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3856" y="1225296"/>
            <a:ext cx="16642080" cy="512064"/>
            <a:chOff x="0" y="0"/>
            <a:chExt cx="22189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89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How each algorithm assigns tasks to processors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5220">
            <a:off x="810254" y="1915477"/>
            <a:ext cx="16667502" cy="0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499367" y="1998983"/>
            <a:ext cx="5694683" cy="3774443"/>
            <a:chOff x="0" y="0"/>
            <a:chExt cx="7592911" cy="50325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7559040" cy="4998720"/>
            </a:xfrm>
            <a:custGeom>
              <a:avLst/>
              <a:gdLst/>
              <a:ahLst/>
              <a:cxnLst/>
              <a:rect r="r" b="b" t="t" l="l"/>
              <a:pathLst>
                <a:path h="49987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998720"/>
                  </a:lnTo>
                  <a:lnTo>
                    <a:pt x="0" y="4998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92822" cy="5032502"/>
            </a:xfrm>
            <a:custGeom>
              <a:avLst/>
              <a:gdLst/>
              <a:ahLst/>
              <a:cxnLst/>
              <a:rect r="r" b="b" t="t" l="l"/>
              <a:pathLst>
                <a:path h="503250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015611"/>
                  </a:lnTo>
                  <a:cubicBezTo>
                    <a:pt x="7592822" y="5025009"/>
                    <a:pt x="7585202" y="5032502"/>
                    <a:pt x="7575931" y="5032502"/>
                  </a:cubicBezTo>
                  <a:lnTo>
                    <a:pt x="16891" y="5032502"/>
                  </a:lnTo>
                  <a:cubicBezTo>
                    <a:pt x="7493" y="5032502"/>
                    <a:pt x="0" y="5024882"/>
                    <a:pt x="0" y="5015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15611"/>
                  </a:lnTo>
                  <a:lnTo>
                    <a:pt x="16891" y="5015611"/>
                  </a:lnTo>
                  <a:lnTo>
                    <a:pt x="16891" y="4998720"/>
                  </a:lnTo>
                  <a:lnTo>
                    <a:pt x="7575931" y="4998720"/>
                  </a:lnTo>
                  <a:lnTo>
                    <a:pt x="7575931" y="5015611"/>
                  </a:lnTo>
                  <a:lnTo>
                    <a:pt x="7559040" y="501561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99367" y="1998983"/>
            <a:ext cx="5694683" cy="720347"/>
            <a:chOff x="0" y="0"/>
            <a:chExt cx="7592911" cy="9604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92822" cy="960376"/>
            </a:xfrm>
            <a:custGeom>
              <a:avLst/>
              <a:gdLst/>
              <a:ahLst/>
              <a:cxnLst/>
              <a:rect r="r" b="b" t="t" l="l"/>
              <a:pathLst>
                <a:path h="960376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943483"/>
                  </a:lnTo>
                  <a:cubicBezTo>
                    <a:pt x="7592822" y="952881"/>
                    <a:pt x="7585202" y="960374"/>
                    <a:pt x="75759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575931" y="926592"/>
                  </a:lnTo>
                  <a:lnTo>
                    <a:pt x="7575931" y="943483"/>
                  </a:lnTo>
                  <a:lnTo>
                    <a:pt x="7559040" y="9434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8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31520" y="2027682"/>
            <a:ext cx="5303520" cy="569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FCFS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2317" y="2874388"/>
            <a:ext cx="5201917" cy="45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How: Tasks assigned in original ID order. Processor = task_index % P. No sorting.</a:t>
            </a:r>
          </a:p>
        </p:txBody>
      </p:sp>
      <p:sp>
        <p:nvSpPr>
          <p:cNvPr name="AutoShape 20" id="20"/>
          <p:cNvSpPr/>
          <p:nvPr/>
        </p:nvSpPr>
        <p:spPr>
          <a:xfrm rot="16740">
            <a:off x="718785" y="4311206"/>
            <a:ext cx="5219252" cy="0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782317" y="4456681"/>
            <a:ext cx="2458717" cy="96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66534"/>
                </a:solidFill>
                <a:latin typeface="Calibri (MS)"/>
                <a:ea typeface="Calibri (MS)"/>
                <a:cs typeface="Calibri (MS)"/>
                <a:sym typeface="Calibri (MS)"/>
              </a:rPr>
              <a:t>✅  Zero overhead, predictable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97501" y="4456681"/>
            <a:ext cx="2641597" cy="96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⚠  Ignores task length &amp; load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24679" y="1998983"/>
            <a:ext cx="5694683" cy="3774443"/>
            <a:chOff x="0" y="0"/>
            <a:chExt cx="7592911" cy="50325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559040" cy="4998720"/>
            </a:xfrm>
            <a:custGeom>
              <a:avLst/>
              <a:gdLst/>
              <a:ahLst/>
              <a:cxnLst/>
              <a:rect r="r" b="b" t="t" l="l"/>
              <a:pathLst>
                <a:path h="49987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998720"/>
                  </a:lnTo>
                  <a:lnTo>
                    <a:pt x="0" y="4998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92822" cy="5032502"/>
            </a:xfrm>
            <a:custGeom>
              <a:avLst/>
              <a:gdLst/>
              <a:ahLst/>
              <a:cxnLst/>
              <a:rect r="r" b="b" t="t" l="l"/>
              <a:pathLst>
                <a:path h="503250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015611"/>
                  </a:lnTo>
                  <a:cubicBezTo>
                    <a:pt x="7592822" y="5025009"/>
                    <a:pt x="7585202" y="5032502"/>
                    <a:pt x="7575931" y="5032502"/>
                  </a:cubicBezTo>
                  <a:lnTo>
                    <a:pt x="16891" y="5032502"/>
                  </a:lnTo>
                  <a:cubicBezTo>
                    <a:pt x="7493" y="5032502"/>
                    <a:pt x="0" y="5024882"/>
                    <a:pt x="0" y="5015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15611"/>
                  </a:lnTo>
                  <a:lnTo>
                    <a:pt x="16891" y="5015611"/>
                  </a:lnTo>
                  <a:lnTo>
                    <a:pt x="16891" y="4998720"/>
                  </a:lnTo>
                  <a:lnTo>
                    <a:pt x="7575931" y="4998720"/>
                  </a:lnTo>
                  <a:lnTo>
                    <a:pt x="7575931" y="5015611"/>
                  </a:lnTo>
                  <a:lnTo>
                    <a:pt x="7559040" y="501561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24679" y="1998983"/>
            <a:ext cx="5694683" cy="720347"/>
            <a:chOff x="0" y="0"/>
            <a:chExt cx="7592911" cy="9604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DAA6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92822" cy="960376"/>
            </a:xfrm>
            <a:custGeom>
              <a:avLst/>
              <a:gdLst/>
              <a:ahLst/>
              <a:cxnLst/>
              <a:rect r="r" b="b" t="t" l="l"/>
              <a:pathLst>
                <a:path h="960376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943483"/>
                  </a:lnTo>
                  <a:cubicBezTo>
                    <a:pt x="7592822" y="952881"/>
                    <a:pt x="7585202" y="960374"/>
                    <a:pt x="75759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575931" y="926592"/>
                  </a:lnTo>
                  <a:lnTo>
                    <a:pt x="7575931" y="943483"/>
                  </a:lnTo>
                  <a:lnTo>
                    <a:pt x="7559040" y="9434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AA6E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656832" y="2027682"/>
            <a:ext cx="5303520" cy="569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Round Robin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07629" y="2874388"/>
            <a:ext cx="5201917" cy="45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How: A counter cycles 0 → P-1 → 0. Each task gets the next processor in rotation.</a:t>
            </a:r>
          </a:p>
        </p:txBody>
      </p:sp>
      <p:sp>
        <p:nvSpPr>
          <p:cNvPr name="AutoShape 31" id="31"/>
          <p:cNvSpPr/>
          <p:nvPr/>
        </p:nvSpPr>
        <p:spPr>
          <a:xfrm rot="16740">
            <a:off x="6644097" y="4311206"/>
            <a:ext cx="5219252" cy="0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6707629" y="4456681"/>
            <a:ext cx="2458717" cy="96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66534"/>
                </a:solidFill>
                <a:latin typeface="Calibri (MS)"/>
                <a:ea typeface="Calibri (MS)"/>
                <a:cs typeface="Calibri (MS)"/>
                <a:sym typeface="Calibri (MS)"/>
              </a:rPr>
              <a:t>✅  Even distribution by count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22813" y="4456681"/>
            <a:ext cx="2641597" cy="96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⚠  Ignores execution time differences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349991" y="1998983"/>
            <a:ext cx="5694683" cy="3774443"/>
            <a:chOff x="0" y="0"/>
            <a:chExt cx="7592911" cy="50325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7559040" cy="4998720"/>
            </a:xfrm>
            <a:custGeom>
              <a:avLst/>
              <a:gdLst/>
              <a:ahLst/>
              <a:cxnLst/>
              <a:rect r="r" b="b" t="t" l="l"/>
              <a:pathLst>
                <a:path h="49987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998720"/>
                  </a:lnTo>
                  <a:lnTo>
                    <a:pt x="0" y="4998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92822" cy="5032502"/>
            </a:xfrm>
            <a:custGeom>
              <a:avLst/>
              <a:gdLst/>
              <a:ahLst/>
              <a:cxnLst/>
              <a:rect r="r" b="b" t="t" l="l"/>
              <a:pathLst>
                <a:path h="503250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015611"/>
                  </a:lnTo>
                  <a:cubicBezTo>
                    <a:pt x="7592822" y="5025009"/>
                    <a:pt x="7585202" y="5032502"/>
                    <a:pt x="7575931" y="5032502"/>
                  </a:cubicBezTo>
                  <a:lnTo>
                    <a:pt x="16891" y="5032502"/>
                  </a:lnTo>
                  <a:cubicBezTo>
                    <a:pt x="7493" y="5032502"/>
                    <a:pt x="0" y="5024882"/>
                    <a:pt x="0" y="5015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15611"/>
                  </a:lnTo>
                  <a:lnTo>
                    <a:pt x="16891" y="5015611"/>
                  </a:lnTo>
                  <a:lnTo>
                    <a:pt x="16891" y="4998720"/>
                  </a:lnTo>
                  <a:lnTo>
                    <a:pt x="7575931" y="4998720"/>
                  </a:lnTo>
                  <a:lnTo>
                    <a:pt x="7575931" y="5015611"/>
                  </a:lnTo>
                  <a:lnTo>
                    <a:pt x="7559040" y="501561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349991" y="1998983"/>
            <a:ext cx="5694683" cy="720347"/>
            <a:chOff x="0" y="0"/>
            <a:chExt cx="7592911" cy="9604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592822" cy="960376"/>
            </a:xfrm>
            <a:custGeom>
              <a:avLst/>
              <a:gdLst/>
              <a:ahLst/>
              <a:cxnLst/>
              <a:rect r="r" b="b" t="t" l="l"/>
              <a:pathLst>
                <a:path h="960376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943483"/>
                  </a:lnTo>
                  <a:cubicBezTo>
                    <a:pt x="7592822" y="952881"/>
                    <a:pt x="7585202" y="960374"/>
                    <a:pt x="75759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575931" y="926592"/>
                  </a:lnTo>
                  <a:lnTo>
                    <a:pt x="7575931" y="943483"/>
                  </a:lnTo>
                  <a:lnTo>
                    <a:pt x="7559040" y="943483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2582144" y="2027682"/>
            <a:ext cx="5303520" cy="569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MinMin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632941" y="2874388"/>
            <a:ext cx="5201917" cy="45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How: Ready tasks sorted ascending by execution_time. Shortest task scheduled first.</a:t>
            </a:r>
          </a:p>
        </p:txBody>
      </p:sp>
      <p:sp>
        <p:nvSpPr>
          <p:cNvPr name="AutoShape 42" id="42"/>
          <p:cNvSpPr/>
          <p:nvPr/>
        </p:nvSpPr>
        <p:spPr>
          <a:xfrm rot="16740">
            <a:off x="12569409" y="4311206"/>
            <a:ext cx="5219252" cy="0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12632941" y="4456681"/>
            <a:ext cx="2458717" cy="96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66534"/>
                </a:solidFill>
                <a:latin typeface="Calibri (MS)"/>
                <a:ea typeface="Calibri (MS)"/>
                <a:cs typeface="Calibri (MS)"/>
                <a:sym typeface="Calibri (MS)"/>
              </a:rPr>
              <a:t>✅  Reduces idle wait times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248125" y="4456681"/>
            <a:ext cx="2641597" cy="96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⚠  Can delay long critical tasks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2511047" y="5967479"/>
            <a:ext cx="7066283" cy="3774443"/>
            <a:chOff x="0" y="0"/>
            <a:chExt cx="9421711" cy="50325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9387840" cy="4998720"/>
            </a:xfrm>
            <a:custGeom>
              <a:avLst/>
              <a:gdLst/>
              <a:ahLst/>
              <a:cxnLst/>
              <a:rect r="r" b="b" t="t" l="l"/>
              <a:pathLst>
                <a:path h="49987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998720"/>
                  </a:lnTo>
                  <a:lnTo>
                    <a:pt x="0" y="4998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421622" cy="5032502"/>
            </a:xfrm>
            <a:custGeom>
              <a:avLst/>
              <a:gdLst/>
              <a:ahLst/>
              <a:cxnLst/>
              <a:rect r="r" b="b" t="t" l="l"/>
              <a:pathLst>
                <a:path h="5032502" w="9421622">
                  <a:moveTo>
                    <a:pt x="16891" y="0"/>
                  </a:moveTo>
                  <a:lnTo>
                    <a:pt x="9404731" y="0"/>
                  </a:lnTo>
                  <a:cubicBezTo>
                    <a:pt x="9414129" y="0"/>
                    <a:pt x="9421622" y="7620"/>
                    <a:pt x="9421622" y="16891"/>
                  </a:cubicBezTo>
                  <a:lnTo>
                    <a:pt x="9421622" y="5015611"/>
                  </a:lnTo>
                  <a:cubicBezTo>
                    <a:pt x="9421622" y="5025009"/>
                    <a:pt x="9414002" y="5032502"/>
                    <a:pt x="9404731" y="5032502"/>
                  </a:cubicBezTo>
                  <a:lnTo>
                    <a:pt x="16891" y="5032502"/>
                  </a:lnTo>
                  <a:cubicBezTo>
                    <a:pt x="7493" y="5032502"/>
                    <a:pt x="0" y="5024882"/>
                    <a:pt x="0" y="5015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15611"/>
                  </a:lnTo>
                  <a:lnTo>
                    <a:pt x="16891" y="5015611"/>
                  </a:lnTo>
                  <a:lnTo>
                    <a:pt x="16891" y="4998720"/>
                  </a:lnTo>
                  <a:lnTo>
                    <a:pt x="9404731" y="4998720"/>
                  </a:lnTo>
                  <a:lnTo>
                    <a:pt x="9404731" y="5015611"/>
                  </a:lnTo>
                  <a:lnTo>
                    <a:pt x="9387840" y="5015611"/>
                  </a:lnTo>
                  <a:lnTo>
                    <a:pt x="9387840" y="16891"/>
                  </a:lnTo>
                  <a:lnTo>
                    <a:pt x="9404731" y="16891"/>
                  </a:lnTo>
                  <a:lnTo>
                    <a:pt x="9404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2511047" y="5967479"/>
            <a:ext cx="7066283" cy="720347"/>
            <a:chOff x="0" y="0"/>
            <a:chExt cx="9421711" cy="96046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9387840" cy="926592"/>
            </a:xfrm>
            <a:custGeom>
              <a:avLst/>
              <a:gdLst/>
              <a:ahLst/>
              <a:cxnLst/>
              <a:rect r="r" b="b" t="t" l="l"/>
              <a:pathLst>
                <a:path h="92659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C9404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421622" cy="960376"/>
            </a:xfrm>
            <a:custGeom>
              <a:avLst/>
              <a:gdLst/>
              <a:ahLst/>
              <a:cxnLst/>
              <a:rect r="r" b="b" t="t" l="l"/>
              <a:pathLst>
                <a:path h="960376" w="9421622">
                  <a:moveTo>
                    <a:pt x="16891" y="0"/>
                  </a:moveTo>
                  <a:lnTo>
                    <a:pt x="9404731" y="0"/>
                  </a:lnTo>
                  <a:cubicBezTo>
                    <a:pt x="9414129" y="0"/>
                    <a:pt x="9421622" y="7620"/>
                    <a:pt x="9421622" y="16891"/>
                  </a:cubicBezTo>
                  <a:lnTo>
                    <a:pt x="9421622" y="943483"/>
                  </a:lnTo>
                  <a:cubicBezTo>
                    <a:pt x="9421622" y="952881"/>
                    <a:pt x="9414002" y="960374"/>
                    <a:pt x="94047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9404731" y="926592"/>
                  </a:lnTo>
                  <a:lnTo>
                    <a:pt x="9404731" y="943483"/>
                  </a:lnTo>
                  <a:lnTo>
                    <a:pt x="9387840" y="943483"/>
                  </a:lnTo>
                  <a:lnTo>
                    <a:pt x="9387840" y="16891"/>
                  </a:lnTo>
                  <a:lnTo>
                    <a:pt x="9404731" y="16891"/>
                  </a:lnTo>
                  <a:lnTo>
                    <a:pt x="9404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4040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2743200" y="5996178"/>
            <a:ext cx="6675120" cy="569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MaxMin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793997" y="6842884"/>
            <a:ext cx="6573517" cy="45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How: Ready tasks sorted descending by execution_time. Longest tasks start first.</a:t>
            </a:r>
          </a:p>
        </p:txBody>
      </p:sp>
      <p:sp>
        <p:nvSpPr>
          <p:cNvPr name="AutoShape 53" id="53"/>
          <p:cNvSpPr/>
          <p:nvPr/>
        </p:nvSpPr>
        <p:spPr>
          <a:xfrm rot="13260">
            <a:off x="2730475" y="8279701"/>
            <a:ext cx="6590843" cy="0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4" id="54"/>
          <p:cNvSpPr txBox="true"/>
          <p:nvPr/>
        </p:nvSpPr>
        <p:spPr>
          <a:xfrm rot="0">
            <a:off x="2793997" y="8425177"/>
            <a:ext cx="3144517" cy="96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66534"/>
                </a:solidFill>
                <a:latin typeface="Calibri (MS)"/>
                <a:ea typeface="Calibri (MS)"/>
                <a:cs typeface="Calibri (MS)"/>
                <a:sym typeface="Calibri (MS)"/>
              </a:rPr>
              <a:t>✅  Overlaps long + short tasks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094981" y="8425177"/>
            <a:ext cx="3327397" cy="96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⚠  High load imbalance in practice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917687" y="5967479"/>
            <a:ext cx="7066283" cy="3774443"/>
            <a:chOff x="0" y="0"/>
            <a:chExt cx="9421711" cy="50325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9387840" cy="4998720"/>
            </a:xfrm>
            <a:custGeom>
              <a:avLst/>
              <a:gdLst/>
              <a:ahLst/>
              <a:cxnLst/>
              <a:rect r="r" b="b" t="t" l="l"/>
              <a:pathLst>
                <a:path h="49987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998720"/>
                  </a:lnTo>
                  <a:lnTo>
                    <a:pt x="0" y="4998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421622" cy="5032502"/>
            </a:xfrm>
            <a:custGeom>
              <a:avLst/>
              <a:gdLst/>
              <a:ahLst/>
              <a:cxnLst/>
              <a:rect r="r" b="b" t="t" l="l"/>
              <a:pathLst>
                <a:path h="5032502" w="9421622">
                  <a:moveTo>
                    <a:pt x="16891" y="0"/>
                  </a:moveTo>
                  <a:lnTo>
                    <a:pt x="9404731" y="0"/>
                  </a:lnTo>
                  <a:cubicBezTo>
                    <a:pt x="9414129" y="0"/>
                    <a:pt x="9421622" y="7620"/>
                    <a:pt x="9421622" y="16891"/>
                  </a:cubicBezTo>
                  <a:lnTo>
                    <a:pt x="9421622" y="5015611"/>
                  </a:lnTo>
                  <a:cubicBezTo>
                    <a:pt x="9421622" y="5025009"/>
                    <a:pt x="9414002" y="5032502"/>
                    <a:pt x="9404731" y="5032502"/>
                  </a:cubicBezTo>
                  <a:lnTo>
                    <a:pt x="16891" y="5032502"/>
                  </a:lnTo>
                  <a:cubicBezTo>
                    <a:pt x="7493" y="5032502"/>
                    <a:pt x="0" y="5024882"/>
                    <a:pt x="0" y="5015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15611"/>
                  </a:lnTo>
                  <a:lnTo>
                    <a:pt x="16891" y="5015611"/>
                  </a:lnTo>
                  <a:lnTo>
                    <a:pt x="16891" y="4998720"/>
                  </a:lnTo>
                  <a:lnTo>
                    <a:pt x="9404731" y="4998720"/>
                  </a:lnTo>
                  <a:lnTo>
                    <a:pt x="9404731" y="5015611"/>
                  </a:lnTo>
                  <a:lnTo>
                    <a:pt x="9387840" y="5015611"/>
                  </a:lnTo>
                  <a:lnTo>
                    <a:pt x="9387840" y="16891"/>
                  </a:lnTo>
                  <a:lnTo>
                    <a:pt x="9404731" y="16891"/>
                  </a:lnTo>
                  <a:lnTo>
                    <a:pt x="9404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917687" y="5967479"/>
            <a:ext cx="7066283" cy="720347"/>
            <a:chOff x="0" y="0"/>
            <a:chExt cx="9421711" cy="96046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9387840" cy="926592"/>
            </a:xfrm>
            <a:custGeom>
              <a:avLst/>
              <a:gdLst/>
              <a:ahLst/>
              <a:cxnLst/>
              <a:rect r="r" b="b" t="t" l="l"/>
              <a:pathLst>
                <a:path h="92659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6A4BB5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421622" cy="960376"/>
            </a:xfrm>
            <a:custGeom>
              <a:avLst/>
              <a:gdLst/>
              <a:ahLst/>
              <a:cxnLst/>
              <a:rect r="r" b="b" t="t" l="l"/>
              <a:pathLst>
                <a:path h="960376" w="9421622">
                  <a:moveTo>
                    <a:pt x="16891" y="0"/>
                  </a:moveTo>
                  <a:lnTo>
                    <a:pt x="9404731" y="0"/>
                  </a:lnTo>
                  <a:cubicBezTo>
                    <a:pt x="9414129" y="0"/>
                    <a:pt x="9421622" y="7620"/>
                    <a:pt x="9421622" y="16891"/>
                  </a:cubicBezTo>
                  <a:lnTo>
                    <a:pt x="9421622" y="943483"/>
                  </a:lnTo>
                  <a:cubicBezTo>
                    <a:pt x="9421622" y="952881"/>
                    <a:pt x="9414002" y="960374"/>
                    <a:pt x="94047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9404731" y="926592"/>
                  </a:lnTo>
                  <a:lnTo>
                    <a:pt x="9404731" y="943483"/>
                  </a:lnTo>
                  <a:lnTo>
                    <a:pt x="9387840" y="943483"/>
                  </a:lnTo>
                  <a:lnTo>
                    <a:pt x="9387840" y="16891"/>
                  </a:lnTo>
                  <a:lnTo>
                    <a:pt x="9404731" y="16891"/>
                  </a:lnTo>
                  <a:lnTo>
                    <a:pt x="9404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4BB5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0149840" y="5996178"/>
            <a:ext cx="6675120" cy="569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LoadAware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200637" y="6842884"/>
            <a:ext cx="6573517" cy="45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How: MinMin sorting, but always assigns to getLeastBusyProcessor() — the one with smallest free_time.</a:t>
            </a:r>
          </a:p>
        </p:txBody>
      </p:sp>
      <p:sp>
        <p:nvSpPr>
          <p:cNvPr name="AutoShape 64" id="64"/>
          <p:cNvSpPr/>
          <p:nvPr/>
        </p:nvSpPr>
        <p:spPr>
          <a:xfrm rot="13260">
            <a:off x="10137115" y="8279701"/>
            <a:ext cx="6590843" cy="0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5" id="65"/>
          <p:cNvSpPr txBox="true"/>
          <p:nvPr/>
        </p:nvSpPr>
        <p:spPr>
          <a:xfrm rot="0">
            <a:off x="10200637" y="8425177"/>
            <a:ext cx="3144517" cy="96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66534"/>
                </a:solidFill>
                <a:latin typeface="Calibri (MS)"/>
                <a:ea typeface="Calibri (MS)"/>
                <a:cs typeface="Calibri (MS)"/>
                <a:sym typeface="Calibri (MS)"/>
              </a:rPr>
              <a:t>✅  Best balance, adapts dynamically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501621" y="8425177"/>
            <a:ext cx="3327397" cy="96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⚠  Critical section serializes lookup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148" y="457200"/>
            <a:ext cx="135131" cy="1397003"/>
            <a:chOff x="0" y="0"/>
            <a:chExt cx="180175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862582"/>
            </a:xfrm>
            <a:custGeom>
              <a:avLst/>
              <a:gdLst/>
              <a:ahLst/>
              <a:cxnLst/>
              <a:rect r="r" b="b" t="t" l="l"/>
              <a:pathLst>
                <a:path h="18625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845691"/>
                  </a:lnTo>
                  <a:cubicBezTo>
                    <a:pt x="180086" y="1855089"/>
                    <a:pt x="172466" y="1862582"/>
                    <a:pt x="163195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63195" y="1828800"/>
                  </a:lnTo>
                  <a:lnTo>
                    <a:pt x="163195" y="1845691"/>
                  </a:lnTo>
                  <a:lnTo>
                    <a:pt x="146304" y="18456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1225296"/>
            <a:ext cx="16642080" cy="512064"/>
            <a:chOff x="0" y="0"/>
            <a:chExt cx="2218944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189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803155" y="5952471"/>
            <a:ext cx="16667483" cy="25309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225619" y="4426825"/>
            <a:ext cx="8346443" cy="4831475"/>
            <a:chOff x="0" y="0"/>
            <a:chExt cx="11128591" cy="64419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28534"/>
              <a:ext cx="11094720" cy="6384749"/>
            </a:xfrm>
            <a:custGeom>
              <a:avLst/>
              <a:gdLst/>
              <a:ahLst/>
              <a:cxnLst/>
              <a:rect r="r" b="b" t="t" l="l"/>
              <a:pathLst>
                <a:path h="6384749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384749"/>
                  </a:lnTo>
                  <a:lnTo>
                    <a:pt x="0" y="638474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28501" cy="6441817"/>
            </a:xfrm>
            <a:custGeom>
              <a:avLst/>
              <a:gdLst/>
              <a:ahLst/>
              <a:cxnLst/>
              <a:rect r="r" b="b" t="t" l="l"/>
              <a:pathLst>
                <a:path h="6441817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12872"/>
                    <a:pt x="11128501" y="28534"/>
                  </a:cubicBezTo>
                  <a:lnTo>
                    <a:pt x="11128501" y="6413283"/>
                  </a:lnTo>
                  <a:cubicBezTo>
                    <a:pt x="11128501" y="6429160"/>
                    <a:pt x="11120882" y="6441817"/>
                    <a:pt x="11111611" y="6441817"/>
                  </a:cubicBezTo>
                  <a:lnTo>
                    <a:pt x="16891" y="6441817"/>
                  </a:lnTo>
                  <a:cubicBezTo>
                    <a:pt x="7493" y="6441817"/>
                    <a:pt x="0" y="6428945"/>
                    <a:pt x="0" y="6413283"/>
                  </a:cubicBezTo>
                  <a:lnTo>
                    <a:pt x="0" y="28534"/>
                  </a:lnTo>
                  <a:cubicBezTo>
                    <a:pt x="0" y="12872"/>
                    <a:pt x="7620" y="0"/>
                    <a:pt x="16891" y="0"/>
                  </a:cubicBezTo>
                  <a:moveTo>
                    <a:pt x="16891" y="57283"/>
                  </a:moveTo>
                  <a:lnTo>
                    <a:pt x="16891" y="28534"/>
                  </a:lnTo>
                  <a:lnTo>
                    <a:pt x="33909" y="28534"/>
                  </a:lnTo>
                  <a:lnTo>
                    <a:pt x="33909" y="6413283"/>
                  </a:lnTo>
                  <a:lnTo>
                    <a:pt x="16891" y="6413283"/>
                  </a:lnTo>
                  <a:lnTo>
                    <a:pt x="16891" y="6384749"/>
                  </a:lnTo>
                  <a:lnTo>
                    <a:pt x="11111611" y="6384749"/>
                  </a:lnTo>
                  <a:lnTo>
                    <a:pt x="11111611" y="6413283"/>
                  </a:lnTo>
                  <a:lnTo>
                    <a:pt x="11094720" y="6413283"/>
                  </a:lnTo>
                  <a:lnTo>
                    <a:pt x="11094720" y="28534"/>
                  </a:lnTo>
                  <a:lnTo>
                    <a:pt x="11111611" y="28534"/>
                  </a:lnTo>
                  <a:lnTo>
                    <a:pt x="11111611" y="57283"/>
                  </a:lnTo>
                  <a:lnTo>
                    <a:pt x="16891" y="57283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477716" y="1028700"/>
            <a:ext cx="4781584" cy="8443474"/>
            <a:chOff x="0" y="0"/>
            <a:chExt cx="9415331" cy="166258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4136" y="27792"/>
              <a:ext cx="9386985" cy="16570160"/>
            </a:xfrm>
            <a:custGeom>
              <a:avLst/>
              <a:gdLst/>
              <a:ahLst/>
              <a:cxnLst/>
              <a:rect r="r" b="b" t="t" l="l"/>
              <a:pathLst>
                <a:path h="16570160" w="9386985">
                  <a:moveTo>
                    <a:pt x="0" y="0"/>
                  </a:moveTo>
                  <a:lnTo>
                    <a:pt x="9386985" y="0"/>
                  </a:lnTo>
                  <a:lnTo>
                    <a:pt x="9386985" y="16570161"/>
                  </a:lnTo>
                  <a:lnTo>
                    <a:pt x="0" y="16570161"/>
                  </a:lnTo>
                  <a:close/>
                </a:path>
              </a:pathLst>
            </a:custGeom>
            <a:blipFill>
              <a:blip r:embed="rId3"/>
              <a:stretch>
                <a:fillRect l="-8918" t="-167" r="-8972" b="-72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15256" cy="16625746"/>
            </a:xfrm>
            <a:custGeom>
              <a:avLst/>
              <a:gdLst/>
              <a:ahLst/>
              <a:cxnLst/>
              <a:rect r="r" b="b" t="t" l="l"/>
              <a:pathLst>
                <a:path h="16625746" w="9415256">
                  <a:moveTo>
                    <a:pt x="14136" y="0"/>
                  </a:moveTo>
                  <a:lnTo>
                    <a:pt x="9401121" y="0"/>
                  </a:lnTo>
                  <a:cubicBezTo>
                    <a:pt x="9408986" y="0"/>
                    <a:pt x="9415256" y="12538"/>
                    <a:pt x="9415256" y="27792"/>
                  </a:cubicBezTo>
                  <a:lnTo>
                    <a:pt x="9415256" y="16597953"/>
                  </a:lnTo>
                  <a:cubicBezTo>
                    <a:pt x="9415256" y="16613417"/>
                    <a:pt x="9408879" y="16625746"/>
                    <a:pt x="9401121" y="16625746"/>
                  </a:cubicBezTo>
                  <a:lnTo>
                    <a:pt x="14136" y="16625746"/>
                  </a:lnTo>
                  <a:cubicBezTo>
                    <a:pt x="6271" y="16625746"/>
                    <a:pt x="0" y="16613208"/>
                    <a:pt x="0" y="16597953"/>
                  </a:cubicBezTo>
                  <a:lnTo>
                    <a:pt x="0" y="27792"/>
                  </a:lnTo>
                  <a:cubicBezTo>
                    <a:pt x="0" y="12538"/>
                    <a:pt x="6377" y="0"/>
                    <a:pt x="14136" y="0"/>
                  </a:cubicBezTo>
                  <a:moveTo>
                    <a:pt x="14136" y="55794"/>
                  </a:moveTo>
                  <a:lnTo>
                    <a:pt x="14136" y="27792"/>
                  </a:lnTo>
                  <a:lnTo>
                    <a:pt x="28378" y="27792"/>
                  </a:lnTo>
                  <a:lnTo>
                    <a:pt x="28378" y="16597953"/>
                  </a:lnTo>
                  <a:lnTo>
                    <a:pt x="14136" y="16597953"/>
                  </a:lnTo>
                  <a:lnTo>
                    <a:pt x="14136" y="16570161"/>
                  </a:lnTo>
                  <a:lnTo>
                    <a:pt x="9401121" y="16570161"/>
                  </a:lnTo>
                  <a:lnTo>
                    <a:pt x="9401121" y="16597953"/>
                  </a:lnTo>
                  <a:lnTo>
                    <a:pt x="9386985" y="16597953"/>
                  </a:lnTo>
                  <a:lnTo>
                    <a:pt x="9386985" y="27792"/>
                  </a:lnTo>
                  <a:lnTo>
                    <a:pt x="9401121" y="27792"/>
                  </a:lnTo>
                  <a:lnTo>
                    <a:pt x="9401121" y="55794"/>
                  </a:lnTo>
                  <a:lnTo>
                    <a:pt x="14136" y="55794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876862" y="4426825"/>
            <a:ext cx="3503889" cy="2582170"/>
            <a:chOff x="0" y="0"/>
            <a:chExt cx="4671852" cy="34428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014" y="5755"/>
              <a:ext cx="4657788" cy="3431352"/>
            </a:xfrm>
            <a:custGeom>
              <a:avLst/>
              <a:gdLst/>
              <a:ahLst/>
              <a:cxnLst/>
              <a:rect r="r" b="b" t="t" l="l"/>
              <a:pathLst>
                <a:path h="3431352" w="4657788">
                  <a:moveTo>
                    <a:pt x="0" y="0"/>
                  </a:moveTo>
                  <a:lnTo>
                    <a:pt x="4657788" y="0"/>
                  </a:lnTo>
                  <a:lnTo>
                    <a:pt x="4657788" y="3431352"/>
                  </a:lnTo>
                  <a:lnTo>
                    <a:pt x="0" y="34313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71816" cy="3442862"/>
            </a:xfrm>
            <a:custGeom>
              <a:avLst/>
              <a:gdLst/>
              <a:ahLst/>
              <a:cxnLst/>
              <a:rect r="r" b="b" t="t" l="l"/>
              <a:pathLst>
                <a:path h="3442862" w="4671816">
                  <a:moveTo>
                    <a:pt x="7014" y="0"/>
                  </a:moveTo>
                  <a:lnTo>
                    <a:pt x="4664802" y="0"/>
                  </a:lnTo>
                  <a:cubicBezTo>
                    <a:pt x="4668704" y="0"/>
                    <a:pt x="4671816" y="2596"/>
                    <a:pt x="4671816" y="5755"/>
                  </a:cubicBezTo>
                  <a:lnTo>
                    <a:pt x="4671816" y="3437107"/>
                  </a:lnTo>
                  <a:cubicBezTo>
                    <a:pt x="4671816" y="3440309"/>
                    <a:pt x="4668651" y="3442862"/>
                    <a:pt x="4664802" y="3442862"/>
                  </a:cubicBezTo>
                  <a:lnTo>
                    <a:pt x="7014" y="3442862"/>
                  </a:lnTo>
                  <a:cubicBezTo>
                    <a:pt x="3112" y="3442862"/>
                    <a:pt x="0" y="3440266"/>
                    <a:pt x="0" y="3437107"/>
                  </a:cubicBezTo>
                  <a:lnTo>
                    <a:pt x="0" y="5755"/>
                  </a:lnTo>
                  <a:cubicBezTo>
                    <a:pt x="0" y="2596"/>
                    <a:pt x="3164" y="0"/>
                    <a:pt x="7014" y="0"/>
                  </a:cubicBezTo>
                  <a:moveTo>
                    <a:pt x="7014" y="11554"/>
                  </a:moveTo>
                  <a:lnTo>
                    <a:pt x="7014" y="5755"/>
                  </a:lnTo>
                  <a:lnTo>
                    <a:pt x="14081" y="5755"/>
                  </a:lnTo>
                  <a:lnTo>
                    <a:pt x="14081" y="3437107"/>
                  </a:lnTo>
                  <a:lnTo>
                    <a:pt x="7014" y="3437107"/>
                  </a:lnTo>
                  <a:lnTo>
                    <a:pt x="7014" y="3431352"/>
                  </a:lnTo>
                  <a:lnTo>
                    <a:pt x="4664802" y="3431352"/>
                  </a:lnTo>
                  <a:lnTo>
                    <a:pt x="4664802" y="3437107"/>
                  </a:lnTo>
                  <a:lnTo>
                    <a:pt x="4657787" y="3437107"/>
                  </a:lnTo>
                  <a:lnTo>
                    <a:pt x="4657787" y="5755"/>
                  </a:lnTo>
                  <a:lnTo>
                    <a:pt x="4664802" y="5755"/>
                  </a:lnTo>
                  <a:lnTo>
                    <a:pt x="4664802" y="11554"/>
                  </a:lnTo>
                  <a:lnTo>
                    <a:pt x="7014" y="11554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052627" y="4684000"/>
            <a:ext cx="3185513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b="true" sz="258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works:</a:t>
            </a:r>
          </a:p>
          <a:p>
            <a:pPr algn="l" marL="446199" indent="-223099" lvl="1">
              <a:lnSpc>
                <a:spcPts val="2480"/>
              </a:lnSpc>
              <a:buFont typeface="Arial"/>
              <a:buChar char="•"/>
            </a:pPr>
            <a:r>
              <a:rPr lang="en-US" sz="20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Minimizes idle time</a:t>
            </a:r>
          </a:p>
          <a:p>
            <a:pPr algn="l" marL="446199" indent="-223099" lvl="1">
              <a:lnSpc>
                <a:spcPts val="2480"/>
              </a:lnSpc>
              <a:buFont typeface="Arial"/>
              <a:buChar char="•"/>
            </a:pPr>
            <a:r>
              <a:rPr lang="en-US" sz="20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Balances workload dynamically</a:t>
            </a:r>
          </a:p>
          <a:p>
            <a:pPr algn="l" marL="446199" indent="-223099" lvl="1">
              <a:lnSpc>
                <a:spcPts val="2480"/>
              </a:lnSpc>
              <a:buFont typeface="Arial"/>
              <a:buChar char="•"/>
            </a:pPr>
            <a:r>
              <a:rPr lang="en-US" sz="20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Improves overall efficiency.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893438" y="7370944"/>
            <a:ext cx="3503889" cy="1955952"/>
            <a:chOff x="0" y="0"/>
            <a:chExt cx="4878946" cy="27235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7325" y="4553"/>
              <a:ext cx="4864257" cy="2714411"/>
            </a:xfrm>
            <a:custGeom>
              <a:avLst/>
              <a:gdLst/>
              <a:ahLst/>
              <a:cxnLst/>
              <a:rect r="r" b="b" t="t" l="l"/>
              <a:pathLst>
                <a:path h="2714411" w="4864257">
                  <a:moveTo>
                    <a:pt x="0" y="0"/>
                  </a:moveTo>
                  <a:lnTo>
                    <a:pt x="4864257" y="0"/>
                  </a:lnTo>
                  <a:lnTo>
                    <a:pt x="4864257" y="2714410"/>
                  </a:lnTo>
                  <a:lnTo>
                    <a:pt x="0" y="27144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8907" cy="2723516"/>
            </a:xfrm>
            <a:custGeom>
              <a:avLst/>
              <a:gdLst/>
              <a:ahLst/>
              <a:cxnLst/>
              <a:rect r="r" b="b" t="t" l="l"/>
              <a:pathLst>
                <a:path h="2723516" w="4878907">
                  <a:moveTo>
                    <a:pt x="7325" y="0"/>
                  </a:moveTo>
                  <a:lnTo>
                    <a:pt x="4871582" y="0"/>
                  </a:lnTo>
                  <a:cubicBezTo>
                    <a:pt x="4875658" y="0"/>
                    <a:pt x="4878907" y="2054"/>
                    <a:pt x="4878907" y="4553"/>
                  </a:cubicBezTo>
                  <a:lnTo>
                    <a:pt x="4878907" y="2718963"/>
                  </a:lnTo>
                  <a:cubicBezTo>
                    <a:pt x="4878907" y="2721496"/>
                    <a:pt x="4875603" y="2723516"/>
                    <a:pt x="4871582" y="2723516"/>
                  </a:cubicBezTo>
                  <a:lnTo>
                    <a:pt x="7325" y="2723516"/>
                  </a:lnTo>
                  <a:cubicBezTo>
                    <a:pt x="3249" y="2723516"/>
                    <a:pt x="0" y="2721462"/>
                    <a:pt x="0" y="2718963"/>
                  </a:cubicBezTo>
                  <a:lnTo>
                    <a:pt x="0" y="4553"/>
                  </a:lnTo>
                  <a:cubicBezTo>
                    <a:pt x="0" y="2054"/>
                    <a:pt x="3305" y="0"/>
                    <a:pt x="7325" y="0"/>
                  </a:cubicBezTo>
                  <a:moveTo>
                    <a:pt x="7325" y="9140"/>
                  </a:moveTo>
                  <a:lnTo>
                    <a:pt x="7325" y="4553"/>
                  </a:lnTo>
                  <a:lnTo>
                    <a:pt x="14705" y="4553"/>
                  </a:lnTo>
                  <a:lnTo>
                    <a:pt x="14705" y="2718963"/>
                  </a:lnTo>
                  <a:lnTo>
                    <a:pt x="7325" y="2718963"/>
                  </a:lnTo>
                  <a:lnTo>
                    <a:pt x="7325" y="2714410"/>
                  </a:lnTo>
                  <a:lnTo>
                    <a:pt x="4871582" y="2714410"/>
                  </a:lnTo>
                  <a:lnTo>
                    <a:pt x="4871582" y="2718963"/>
                  </a:lnTo>
                  <a:lnTo>
                    <a:pt x="4864257" y="2718963"/>
                  </a:lnTo>
                  <a:lnTo>
                    <a:pt x="4864257" y="4553"/>
                  </a:lnTo>
                  <a:lnTo>
                    <a:pt x="4871582" y="4553"/>
                  </a:lnTo>
                  <a:lnTo>
                    <a:pt x="4871582" y="9140"/>
                  </a:lnTo>
                  <a:lnTo>
                    <a:pt x="7325" y="9140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65197" y="469902"/>
            <a:ext cx="72648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Load-Aware Algorithm: Core Logic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26936" y="4547601"/>
            <a:ext cx="7758576" cy="4575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3"/>
              </a:lnSpc>
            </a:pPr>
            <a:r>
              <a:rPr lang="en-US" b="true" sz="381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Algorithm Steps</a:t>
            </a:r>
          </a:p>
          <a:p>
            <a:pPr algn="l" marL="564205" indent="-282103" lvl="1">
              <a:lnSpc>
                <a:spcPts val="3135"/>
              </a:lnSpc>
              <a:buAutoNum type="arabicPeriod" startAt="1"/>
            </a:pPr>
            <a:r>
              <a:rPr lang="en-US" b="true" sz="261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261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sz="26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dentify Ready Tasks: Select tasks with no pending dependencies</a:t>
            </a:r>
          </a:p>
          <a:p>
            <a:pPr algn="l" marL="564205" indent="-282103" lvl="1">
              <a:lnSpc>
                <a:spcPts val="3135"/>
              </a:lnSpc>
              <a:buAutoNum type="arabicPeriod" startAt="1"/>
            </a:pPr>
            <a:r>
              <a:rPr lang="en-US" sz="26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6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Calculate Current Load: Sum execution times of assigned tasks for each processor</a:t>
            </a:r>
          </a:p>
          <a:p>
            <a:pPr algn="l" marL="564205" indent="-282103" lvl="1">
              <a:lnSpc>
                <a:spcPts val="3135"/>
              </a:lnSpc>
              <a:buAutoNum type="arabicPeriod" startAt="1"/>
            </a:pPr>
            <a:r>
              <a:rPr lang="en-US" sz="26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6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Find Minimum Load: Identify processor with least total workload</a:t>
            </a:r>
          </a:p>
          <a:p>
            <a:pPr algn="l" marL="564205" indent="-282103" lvl="1">
              <a:lnSpc>
                <a:spcPts val="3135"/>
              </a:lnSpc>
              <a:buAutoNum type="arabicPeriod" startAt="1"/>
            </a:pPr>
            <a:r>
              <a:rPr lang="en-US" sz="26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6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Assign Task: Allocate task to selected processor</a:t>
            </a:r>
          </a:p>
          <a:p>
            <a:pPr algn="l" marL="564205" indent="-282103" lvl="1">
              <a:lnSpc>
                <a:spcPts val="3135"/>
              </a:lnSpc>
              <a:buAutoNum type="arabicPeriod" startAt="1"/>
            </a:pPr>
            <a:r>
              <a:rPr lang="en-US" sz="26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6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Update Load: Add task execution time to processor's load</a:t>
            </a:r>
          </a:p>
          <a:p>
            <a:pPr algn="l" marL="564205" indent="-282103" lvl="1">
              <a:lnSpc>
                <a:spcPts val="3135"/>
              </a:lnSpc>
              <a:buAutoNum type="arabicPeriod" startAt="1"/>
            </a:pPr>
            <a:r>
              <a:rPr lang="en-US" sz="26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6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Repeat: Continue until all tasks are scheduled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16339" y="7614777"/>
            <a:ext cx="3058089" cy="1443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b="true" sz="268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Limitations:</a:t>
            </a:r>
          </a:p>
          <a:p>
            <a:pPr algn="l" marL="469291" indent="-234645" lvl="1">
              <a:lnSpc>
                <a:spcPts val="2608"/>
              </a:lnSpc>
              <a:buFont typeface="Arial"/>
              <a:buChar char="•"/>
            </a:pPr>
            <a:r>
              <a:rPr lang="en-US" sz="21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Greedy approach</a:t>
            </a:r>
          </a:p>
          <a:p>
            <a:pPr algn="l" marL="469291" indent="-234645" lvl="1">
              <a:lnSpc>
                <a:spcPts val="2608"/>
              </a:lnSpc>
              <a:buFont typeface="Arial"/>
              <a:buChar char="•"/>
            </a:pPr>
            <a:r>
              <a:rPr lang="en-US" sz="21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Does not consider future tasksschedules.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22171" y="1988215"/>
            <a:ext cx="11615968" cy="2076659"/>
            <a:chOff x="0" y="0"/>
            <a:chExt cx="16174505" cy="28916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4284" y="4834"/>
              <a:ext cx="16125811" cy="2881925"/>
            </a:xfrm>
            <a:custGeom>
              <a:avLst/>
              <a:gdLst/>
              <a:ahLst/>
              <a:cxnLst/>
              <a:rect r="r" b="b" t="t" l="l"/>
              <a:pathLst>
                <a:path h="2881925" w="16125811">
                  <a:moveTo>
                    <a:pt x="0" y="0"/>
                  </a:moveTo>
                  <a:lnTo>
                    <a:pt x="16125811" y="0"/>
                  </a:lnTo>
                  <a:lnTo>
                    <a:pt x="16125811" y="2881924"/>
                  </a:lnTo>
                  <a:lnTo>
                    <a:pt x="0" y="28819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174377" cy="2891592"/>
            </a:xfrm>
            <a:custGeom>
              <a:avLst/>
              <a:gdLst/>
              <a:ahLst/>
              <a:cxnLst/>
              <a:rect r="r" b="b" t="t" l="l"/>
              <a:pathLst>
                <a:path h="2891592" w="16174377">
                  <a:moveTo>
                    <a:pt x="24284" y="0"/>
                  </a:moveTo>
                  <a:lnTo>
                    <a:pt x="16150095" y="0"/>
                  </a:lnTo>
                  <a:cubicBezTo>
                    <a:pt x="16163606" y="0"/>
                    <a:pt x="16174377" y="2181"/>
                    <a:pt x="16174377" y="4834"/>
                  </a:cubicBezTo>
                  <a:lnTo>
                    <a:pt x="16174377" y="2886758"/>
                  </a:lnTo>
                  <a:cubicBezTo>
                    <a:pt x="16174377" y="2889448"/>
                    <a:pt x="16163423" y="2891592"/>
                    <a:pt x="16150095" y="2891592"/>
                  </a:cubicBezTo>
                  <a:lnTo>
                    <a:pt x="24284" y="2891592"/>
                  </a:lnTo>
                  <a:cubicBezTo>
                    <a:pt x="10772" y="2891592"/>
                    <a:pt x="0" y="2889411"/>
                    <a:pt x="0" y="2886758"/>
                  </a:cubicBezTo>
                  <a:lnTo>
                    <a:pt x="0" y="4834"/>
                  </a:lnTo>
                  <a:cubicBezTo>
                    <a:pt x="0" y="2181"/>
                    <a:pt x="10955" y="0"/>
                    <a:pt x="24284" y="0"/>
                  </a:cubicBezTo>
                  <a:moveTo>
                    <a:pt x="24284" y="9704"/>
                  </a:moveTo>
                  <a:lnTo>
                    <a:pt x="24284" y="4834"/>
                  </a:lnTo>
                  <a:lnTo>
                    <a:pt x="48750" y="4834"/>
                  </a:lnTo>
                  <a:lnTo>
                    <a:pt x="48750" y="2886758"/>
                  </a:lnTo>
                  <a:lnTo>
                    <a:pt x="24284" y="2886758"/>
                  </a:lnTo>
                  <a:lnTo>
                    <a:pt x="24284" y="2881924"/>
                  </a:lnTo>
                  <a:lnTo>
                    <a:pt x="16150095" y="2881924"/>
                  </a:lnTo>
                  <a:lnTo>
                    <a:pt x="16150095" y="2886758"/>
                  </a:lnTo>
                  <a:lnTo>
                    <a:pt x="16125811" y="2886758"/>
                  </a:lnTo>
                  <a:lnTo>
                    <a:pt x="16125811" y="4834"/>
                  </a:lnTo>
                  <a:lnTo>
                    <a:pt x="16150095" y="4834"/>
                  </a:lnTo>
                  <a:lnTo>
                    <a:pt x="16150095" y="9704"/>
                  </a:lnTo>
                  <a:lnTo>
                    <a:pt x="24284" y="9704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70714" y="2174057"/>
            <a:ext cx="11303714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8"/>
              </a:lnSpc>
              <a:spcBef>
                <a:spcPct val="0"/>
              </a:spcBef>
            </a:pPr>
            <a:r>
              <a:rPr lang="en-US" b="true" sz="246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Instead of assigning tasks blindly, LoadAware selects the processor with the least current workload.</a:t>
            </a:r>
          </a:p>
          <a:p>
            <a:pPr algn="l">
              <a:lnSpc>
                <a:spcPts val="2303"/>
              </a:lnSpc>
              <a:spcBef>
                <a:spcPct val="0"/>
              </a:spcBef>
            </a:pPr>
          </a:p>
          <a:p>
            <a:pPr algn="l">
              <a:lnSpc>
                <a:spcPts val="2631"/>
              </a:lnSpc>
              <a:spcBef>
                <a:spcPct val="0"/>
              </a:spcBef>
            </a:pPr>
            <a:r>
              <a:rPr lang="en-US" sz="219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 Dynamic decision based on real-time processor state</a:t>
            </a:r>
          </a:p>
          <a:p>
            <a:pPr algn="l">
              <a:lnSpc>
                <a:spcPts val="2631"/>
              </a:lnSpc>
              <a:spcBef>
                <a:spcPct val="0"/>
              </a:spcBef>
            </a:pPr>
            <a:r>
              <a:rPr lang="en-US" sz="219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 Minimizes idle time and imbalance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0263" y="499367"/>
            <a:ext cx="135131" cy="1397003"/>
            <a:chOff x="0" y="0"/>
            <a:chExt cx="180175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862582"/>
            </a:xfrm>
            <a:custGeom>
              <a:avLst/>
              <a:gdLst/>
              <a:ahLst/>
              <a:cxnLst/>
              <a:rect r="r" b="b" t="t" l="l"/>
              <a:pathLst>
                <a:path h="18625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845691"/>
                  </a:lnTo>
                  <a:cubicBezTo>
                    <a:pt x="180086" y="1855089"/>
                    <a:pt x="172466" y="1862582"/>
                    <a:pt x="163195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63195" y="1828800"/>
                  </a:lnTo>
                  <a:lnTo>
                    <a:pt x="163195" y="1845691"/>
                  </a:lnTo>
                  <a:lnTo>
                    <a:pt x="146304" y="18456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457200"/>
            <a:ext cx="16642080" cy="768096"/>
            <a:chOff x="0" y="0"/>
            <a:chExt cx="22189440" cy="1024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1894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b="true" sz="4000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— Makespan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3856" y="1225296"/>
            <a:ext cx="16642080" cy="512064"/>
            <a:chOff x="0" y="0"/>
            <a:chExt cx="22189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89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Average time units to complete all tasks · lower is better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628867" y="2933766"/>
            <a:ext cx="16667483" cy="25309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088776" y="1996106"/>
            <a:ext cx="2205895" cy="1408352"/>
            <a:chOff x="0" y="0"/>
            <a:chExt cx="4254230" cy="27161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9314" y="16891"/>
              <a:ext cx="4235552" cy="2682240"/>
            </a:xfrm>
            <a:custGeom>
              <a:avLst/>
              <a:gdLst/>
              <a:ahLst/>
              <a:cxnLst/>
              <a:rect r="r" b="b" t="t" l="l"/>
              <a:pathLst>
                <a:path h="2682240" w="4235552">
                  <a:moveTo>
                    <a:pt x="0" y="0"/>
                  </a:moveTo>
                  <a:lnTo>
                    <a:pt x="4235552" y="0"/>
                  </a:lnTo>
                  <a:lnTo>
                    <a:pt x="423555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54181" cy="2716022"/>
            </a:xfrm>
            <a:custGeom>
              <a:avLst/>
              <a:gdLst/>
              <a:ahLst/>
              <a:cxnLst/>
              <a:rect r="r" b="b" t="t" l="l"/>
              <a:pathLst>
                <a:path h="2716022" w="4254181">
                  <a:moveTo>
                    <a:pt x="9314" y="0"/>
                  </a:moveTo>
                  <a:lnTo>
                    <a:pt x="4244866" y="0"/>
                  </a:lnTo>
                  <a:cubicBezTo>
                    <a:pt x="4250049" y="0"/>
                    <a:pt x="4254181" y="7620"/>
                    <a:pt x="4254181" y="16891"/>
                  </a:cubicBezTo>
                  <a:lnTo>
                    <a:pt x="4254181" y="2699131"/>
                  </a:lnTo>
                  <a:cubicBezTo>
                    <a:pt x="4254181" y="2708529"/>
                    <a:pt x="4249979" y="2716022"/>
                    <a:pt x="4244866" y="2716022"/>
                  </a:cubicBezTo>
                  <a:lnTo>
                    <a:pt x="9314" y="2716022"/>
                  </a:lnTo>
                  <a:cubicBezTo>
                    <a:pt x="4132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4202" y="0"/>
                    <a:pt x="9314" y="0"/>
                  </a:cubicBezTo>
                  <a:moveTo>
                    <a:pt x="9314" y="33909"/>
                  </a:moveTo>
                  <a:lnTo>
                    <a:pt x="9314" y="16891"/>
                  </a:lnTo>
                  <a:lnTo>
                    <a:pt x="18699" y="16891"/>
                  </a:lnTo>
                  <a:lnTo>
                    <a:pt x="18699" y="2699131"/>
                  </a:lnTo>
                  <a:lnTo>
                    <a:pt x="9314" y="2699131"/>
                  </a:lnTo>
                  <a:lnTo>
                    <a:pt x="9314" y="2682240"/>
                  </a:lnTo>
                  <a:lnTo>
                    <a:pt x="4244866" y="2682240"/>
                  </a:lnTo>
                  <a:lnTo>
                    <a:pt x="4244866" y="2699131"/>
                  </a:lnTo>
                  <a:lnTo>
                    <a:pt x="4235552" y="2699131"/>
                  </a:lnTo>
                  <a:lnTo>
                    <a:pt x="4235552" y="16891"/>
                  </a:lnTo>
                  <a:lnTo>
                    <a:pt x="4244866" y="16891"/>
                  </a:lnTo>
                  <a:lnTo>
                    <a:pt x="4244866" y="33909"/>
                  </a:lnTo>
                  <a:lnTo>
                    <a:pt x="9314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612268" y="1996106"/>
            <a:ext cx="2376788" cy="1408352"/>
            <a:chOff x="0" y="0"/>
            <a:chExt cx="3169051" cy="18778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938" y="11678"/>
              <a:ext cx="3155138" cy="1854386"/>
            </a:xfrm>
            <a:custGeom>
              <a:avLst/>
              <a:gdLst/>
              <a:ahLst/>
              <a:cxnLst/>
              <a:rect r="r" b="b" t="t" l="l"/>
              <a:pathLst>
                <a:path h="1854386" w="3155138">
                  <a:moveTo>
                    <a:pt x="0" y="0"/>
                  </a:moveTo>
                  <a:lnTo>
                    <a:pt x="3155138" y="0"/>
                  </a:lnTo>
                  <a:lnTo>
                    <a:pt x="3155138" y="1854386"/>
                  </a:lnTo>
                  <a:lnTo>
                    <a:pt x="0" y="18543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69014" cy="1877742"/>
            </a:xfrm>
            <a:custGeom>
              <a:avLst/>
              <a:gdLst/>
              <a:ahLst/>
              <a:cxnLst/>
              <a:rect r="r" b="b" t="t" l="l"/>
              <a:pathLst>
                <a:path h="1877742" w="3169014">
                  <a:moveTo>
                    <a:pt x="6938" y="0"/>
                  </a:moveTo>
                  <a:lnTo>
                    <a:pt x="3162076" y="0"/>
                  </a:lnTo>
                  <a:cubicBezTo>
                    <a:pt x="3165937" y="0"/>
                    <a:pt x="3169014" y="5268"/>
                    <a:pt x="3169014" y="11678"/>
                  </a:cubicBezTo>
                  <a:lnTo>
                    <a:pt x="3169014" y="1866064"/>
                  </a:lnTo>
                  <a:cubicBezTo>
                    <a:pt x="3169014" y="1872561"/>
                    <a:pt x="3165884" y="1877742"/>
                    <a:pt x="3162076" y="1877742"/>
                  </a:cubicBezTo>
                  <a:lnTo>
                    <a:pt x="6938" y="1877742"/>
                  </a:lnTo>
                  <a:cubicBezTo>
                    <a:pt x="3078" y="1877742"/>
                    <a:pt x="0" y="1872473"/>
                    <a:pt x="0" y="1866064"/>
                  </a:cubicBezTo>
                  <a:lnTo>
                    <a:pt x="0" y="11678"/>
                  </a:lnTo>
                  <a:cubicBezTo>
                    <a:pt x="0" y="5268"/>
                    <a:pt x="3130" y="0"/>
                    <a:pt x="6938" y="0"/>
                  </a:cubicBezTo>
                  <a:moveTo>
                    <a:pt x="6938" y="23443"/>
                  </a:moveTo>
                  <a:lnTo>
                    <a:pt x="6938" y="11678"/>
                  </a:lnTo>
                  <a:lnTo>
                    <a:pt x="13929" y="11678"/>
                  </a:lnTo>
                  <a:lnTo>
                    <a:pt x="13929" y="1866064"/>
                  </a:lnTo>
                  <a:lnTo>
                    <a:pt x="6938" y="1866064"/>
                  </a:lnTo>
                  <a:lnTo>
                    <a:pt x="6938" y="1854386"/>
                  </a:lnTo>
                  <a:lnTo>
                    <a:pt x="3162076" y="1854386"/>
                  </a:lnTo>
                  <a:lnTo>
                    <a:pt x="3162076" y="1866064"/>
                  </a:lnTo>
                  <a:lnTo>
                    <a:pt x="3155138" y="1866064"/>
                  </a:lnTo>
                  <a:lnTo>
                    <a:pt x="3155138" y="11678"/>
                  </a:lnTo>
                  <a:lnTo>
                    <a:pt x="3162076" y="11678"/>
                  </a:lnTo>
                  <a:lnTo>
                    <a:pt x="3162076" y="23443"/>
                  </a:lnTo>
                  <a:lnTo>
                    <a:pt x="6938" y="23443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303381" y="1999682"/>
            <a:ext cx="2376788" cy="1404776"/>
            <a:chOff x="0" y="0"/>
            <a:chExt cx="3169051" cy="18730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938" y="11648"/>
              <a:ext cx="3155138" cy="1849678"/>
            </a:xfrm>
            <a:custGeom>
              <a:avLst/>
              <a:gdLst/>
              <a:ahLst/>
              <a:cxnLst/>
              <a:rect r="r" b="b" t="t" l="l"/>
              <a:pathLst>
                <a:path h="1849678" w="3155138">
                  <a:moveTo>
                    <a:pt x="0" y="0"/>
                  </a:moveTo>
                  <a:lnTo>
                    <a:pt x="3155138" y="0"/>
                  </a:lnTo>
                  <a:lnTo>
                    <a:pt x="3155138" y="1849678"/>
                  </a:lnTo>
                  <a:lnTo>
                    <a:pt x="0" y="18496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69014" cy="1872974"/>
            </a:xfrm>
            <a:custGeom>
              <a:avLst/>
              <a:gdLst/>
              <a:ahLst/>
              <a:cxnLst/>
              <a:rect r="r" b="b" t="t" l="l"/>
              <a:pathLst>
                <a:path h="1872974" w="3169014">
                  <a:moveTo>
                    <a:pt x="6938" y="0"/>
                  </a:moveTo>
                  <a:lnTo>
                    <a:pt x="3162076" y="0"/>
                  </a:lnTo>
                  <a:cubicBezTo>
                    <a:pt x="3165937" y="0"/>
                    <a:pt x="3169014" y="5255"/>
                    <a:pt x="3169014" y="11648"/>
                  </a:cubicBezTo>
                  <a:lnTo>
                    <a:pt x="3169014" y="1861326"/>
                  </a:lnTo>
                  <a:cubicBezTo>
                    <a:pt x="3169014" y="1867807"/>
                    <a:pt x="3165884" y="1872974"/>
                    <a:pt x="3162076" y="1872974"/>
                  </a:cubicBezTo>
                  <a:lnTo>
                    <a:pt x="6938" y="1872974"/>
                  </a:lnTo>
                  <a:cubicBezTo>
                    <a:pt x="3078" y="1872974"/>
                    <a:pt x="0" y="1867719"/>
                    <a:pt x="0" y="1861326"/>
                  </a:cubicBezTo>
                  <a:lnTo>
                    <a:pt x="0" y="11648"/>
                  </a:lnTo>
                  <a:cubicBezTo>
                    <a:pt x="0" y="5255"/>
                    <a:pt x="3130" y="0"/>
                    <a:pt x="6938" y="0"/>
                  </a:cubicBezTo>
                  <a:moveTo>
                    <a:pt x="6938" y="23384"/>
                  </a:moveTo>
                  <a:lnTo>
                    <a:pt x="6938" y="11648"/>
                  </a:lnTo>
                  <a:lnTo>
                    <a:pt x="13929" y="11648"/>
                  </a:lnTo>
                  <a:lnTo>
                    <a:pt x="13929" y="1861326"/>
                  </a:lnTo>
                  <a:lnTo>
                    <a:pt x="6938" y="1861326"/>
                  </a:lnTo>
                  <a:lnTo>
                    <a:pt x="6938" y="1849678"/>
                  </a:lnTo>
                  <a:lnTo>
                    <a:pt x="3162076" y="1849678"/>
                  </a:lnTo>
                  <a:lnTo>
                    <a:pt x="3162076" y="1861326"/>
                  </a:lnTo>
                  <a:lnTo>
                    <a:pt x="3155138" y="1861326"/>
                  </a:lnTo>
                  <a:lnTo>
                    <a:pt x="3155138" y="11648"/>
                  </a:lnTo>
                  <a:lnTo>
                    <a:pt x="3162076" y="11648"/>
                  </a:lnTo>
                  <a:lnTo>
                    <a:pt x="3162076" y="23384"/>
                  </a:lnTo>
                  <a:lnTo>
                    <a:pt x="6938" y="23384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27383" y="8911847"/>
            <a:ext cx="17124683" cy="830075"/>
            <a:chOff x="0" y="0"/>
            <a:chExt cx="22832911" cy="11067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22799039" cy="1072896"/>
            </a:xfrm>
            <a:custGeom>
              <a:avLst/>
              <a:gdLst/>
              <a:ahLst/>
              <a:cxnLst/>
              <a:rect r="r" b="b" t="t" l="l"/>
              <a:pathLst>
                <a:path h="1072896" w="22799039">
                  <a:moveTo>
                    <a:pt x="0" y="0"/>
                  </a:moveTo>
                  <a:lnTo>
                    <a:pt x="22799039" y="0"/>
                  </a:lnTo>
                  <a:lnTo>
                    <a:pt x="22799039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832822" cy="1106680"/>
            </a:xfrm>
            <a:custGeom>
              <a:avLst/>
              <a:gdLst/>
              <a:ahLst/>
              <a:cxnLst/>
              <a:rect r="r" b="b" t="t" l="l"/>
              <a:pathLst>
                <a:path h="1106680" w="22832822">
                  <a:moveTo>
                    <a:pt x="16891" y="0"/>
                  </a:moveTo>
                  <a:lnTo>
                    <a:pt x="22815930" y="0"/>
                  </a:lnTo>
                  <a:cubicBezTo>
                    <a:pt x="22825329" y="0"/>
                    <a:pt x="22832822" y="7620"/>
                    <a:pt x="22832822" y="16891"/>
                  </a:cubicBezTo>
                  <a:lnTo>
                    <a:pt x="22832822" y="1089787"/>
                  </a:lnTo>
                  <a:cubicBezTo>
                    <a:pt x="22832822" y="1099185"/>
                    <a:pt x="22825202" y="1106678"/>
                    <a:pt x="22815930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22815930" y="1072896"/>
                  </a:lnTo>
                  <a:lnTo>
                    <a:pt x="22815930" y="1089787"/>
                  </a:lnTo>
                  <a:lnTo>
                    <a:pt x="22799039" y="1089787"/>
                  </a:lnTo>
                  <a:lnTo>
                    <a:pt x="22799039" y="16891"/>
                  </a:lnTo>
                  <a:lnTo>
                    <a:pt x="22815930" y="16891"/>
                  </a:lnTo>
                  <a:lnTo>
                    <a:pt x="22815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3C5FD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056637" y="1996106"/>
            <a:ext cx="8817213" cy="6573487"/>
          </a:xfrm>
          <a:custGeom>
            <a:avLst/>
            <a:gdLst/>
            <a:ahLst/>
            <a:cxnLst/>
            <a:rect r="r" b="b" t="t" l="l"/>
            <a:pathLst>
              <a:path h="6573487" w="8817213">
                <a:moveTo>
                  <a:pt x="0" y="0"/>
                </a:moveTo>
                <a:lnTo>
                  <a:pt x="8817213" y="0"/>
                </a:lnTo>
                <a:lnTo>
                  <a:pt x="8817213" y="6573487"/>
                </a:lnTo>
                <a:lnTo>
                  <a:pt x="0" y="6573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9" r="0" b="-299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426590" y="2192312"/>
            <a:ext cx="50654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0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Best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26590" y="2459650"/>
            <a:ext cx="5201917" cy="50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3DAA6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LoadAware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26590" y="2916212"/>
            <a:ext cx="120266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1,221 units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50081" y="2179791"/>
            <a:ext cx="5201917" cy="33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2nd Best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50081" y="2526501"/>
            <a:ext cx="5201917" cy="50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2C5F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RoundRobin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50081" y="2983063"/>
            <a:ext cx="120266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1,258 units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641195" y="2116516"/>
            <a:ext cx="5201917" cy="33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Worst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641195" y="2463226"/>
            <a:ext cx="5201917" cy="50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C9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MaxMin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641195" y="2919787"/>
            <a:ext cx="120266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1,426 units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6637" y="8964292"/>
            <a:ext cx="1654047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i="true">
                <a:solidFill>
                  <a:srgbClr val="1E40A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LoadAware consistently achieves the lowest makespan by balancing workload, while MaxMin underperforms due to task prioritization imbalance. RoundRobin provides stable performance but lacks optimization.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064906" y="6734175"/>
            <a:ext cx="7687160" cy="2064135"/>
            <a:chOff x="0" y="0"/>
            <a:chExt cx="22832911" cy="61310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93569"/>
              <a:ext cx="22799039" cy="5943400"/>
            </a:xfrm>
            <a:custGeom>
              <a:avLst/>
              <a:gdLst/>
              <a:ahLst/>
              <a:cxnLst/>
              <a:rect r="r" b="b" t="t" l="l"/>
              <a:pathLst>
                <a:path h="5943400" w="22799039">
                  <a:moveTo>
                    <a:pt x="0" y="0"/>
                  </a:moveTo>
                  <a:lnTo>
                    <a:pt x="22799039" y="0"/>
                  </a:lnTo>
                  <a:lnTo>
                    <a:pt x="22799039" y="5943400"/>
                  </a:lnTo>
                  <a:lnTo>
                    <a:pt x="0" y="594340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832822" cy="6130544"/>
            </a:xfrm>
            <a:custGeom>
              <a:avLst/>
              <a:gdLst/>
              <a:ahLst/>
              <a:cxnLst/>
              <a:rect r="r" b="b" t="t" l="l"/>
              <a:pathLst>
                <a:path h="6130544" w="22832822">
                  <a:moveTo>
                    <a:pt x="16891" y="0"/>
                  </a:moveTo>
                  <a:lnTo>
                    <a:pt x="22815930" y="0"/>
                  </a:lnTo>
                  <a:cubicBezTo>
                    <a:pt x="22825329" y="0"/>
                    <a:pt x="22832822" y="42212"/>
                    <a:pt x="22832822" y="93569"/>
                  </a:cubicBezTo>
                  <a:lnTo>
                    <a:pt x="22832822" y="6036969"/>
                  </a:lnTo>
                  <a:cubicBezTo>
                    <a:pt x="22832822" y="6089030"/>
                    <a:pt x="22825202" y="6130539"/>
                    <a:pt x="22815930" y="6130539"/>
                  </a:cubicBezTo>
                  <a:lnTo>
                    <a:pt x="16891" y="6130539"/>
                  </a:lnTo>
                  <a:cubicBezTo>
                    <a:pt x="7620" y="6131069"/>
                    <a:pt x="0" y="6089031"/>
                    <a:pt x="0" y="6036969"/>
                  </a:cubicBezTo>
                  <a:lnTo>
                    <a:pt x="0" y="93569"/>
                  </a:lnTo>
                  <a:cubicBezTo>
                    <a:pt x="0" y="42212"/>
                    <a:pt x="7620" y="0"/>
                    <a:pt x="16891" y="0"/>
                  </a:cubicBezTo>
                  <a:moveTo>
                    <a:pt x="16891" y="187842"/>
                  </a:moveTo>
                  <a:lnTo>
                    <a:pt x="16891" y="93569"/>
                  </a:lnTo>
                  <a:lnTo>
                    <a:pt x="33909" y="93569"/>
                  </a:lnTo>
                  <a:lnTo>
                    <a:pt x="33909" y="6036969"/>
                  </a:lnTo>
                  <a:lnTo>
                    <a:pt x="16891" y="6036969"/>
                  </a:lnTo>
                  <a:lnTo>
                    <a:pt x="16891" y="5943400"/>
                  </a:lnTo>
                  <a:lnTo>
                    <a:pt x="22815930" y="5943400"/>
                  </a:lnTo>
                  <a:lnTo>
                    <a:pt x="22815930" y="6036970"/>
                  </a:lnTo>
                  <a:lnTo>
                    <a:pt x="22799039" y="6036970"/>
                  </a:lnTo>
                  <a:lnTo>
                    <a:pt x="22799039" y="93569"/>
                  </a:lnTo>
                  <a:lnTo>
                    <a:pt x="22815930" y="93569"/>
                  </a:lnTo>
                  <a:lnTo>
                    <a:pt x="22815930" y="187842"/>
                  </a:lnTo>
                  <a:lnTo>
                    <a:pt x="16891" y="187842"/>
                  </a:lnTo>
                  <a:close/>
                </a:path>
              </a:pathLst>
            </a:custGeom>
            <a:solidFill>
              <a:srgbClr val="93C5FD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106960" y="6739921"/>
            <a:ext cx="757321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this happens?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LoadAware 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minimizes idle time by balancing processor loads dynamically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MaxMin 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delays smaller tasks, causing underutilization of processors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RoundRobin 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ensures fairness but does not optimize based on execution time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049984" y="3528283"/>
            <a:ext cx="7687160" cy="3091592"/>
            <a:chOff x="0" y="0"/>
            <a:chExt cx="22832911" cy="91828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40145"/>
              <a:ext cx="22799039" cy="8901823"/>
            </a:xfrm>
            <a:custGeom>
              <a:avLst/>
              <a:gdLst/>
              <a:ahLst/>
              <a:cxnLst/>
              <a:rect r="r" b="b" t="t" l="l"/>
              <a:pathLst>
                <a:path h="8901823" w="22799039">
                  <a:moveTo>
                    <a:pt x="0" y="0"/>
                  </a:moveTo>
                  <a:lnTo>
                    <a:pt x="22799039" y="0"/>
                  </a:lnTo>
                  <a:lnTo>
                    <a:pt x="22799039" y="8901822"/>
                  </a:lnTo>
                  <a:lnTo>
                    <a:pt x="0" y="8901822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832822" cy="9182119"/>
            </a:xfrm>
            <a:custGeom>
              <a:avLst/>
              <a:gdLst/>
              <a:ahLst/>
              <a:cxnLst/>
              <a:rect r="r" b="b" t="t" l="l"/>
              <a:pathLst>
                <a:path h="9182119" w="22832822">
                  <a:moveTo>
                    <a:pt x="16891" y="0"/>
                  </a:moveTo>
                  <a:lnTo>
                    <a:pt x="22815930" y="0"/>
                  </a:lnTo>
                  <a:cubicBezTo>
                    <a:pt x="22825329" y="0"/>
                    <a:pt x="22832822" y="63223"/>
                    <a:pt x="22832822" y="140145"/>
                  </a:cubicBezTo>
                  <a:lnTo>
                    <a:pt x="22832822" y="9041967"/>
                  </a:lnTo>
                  <a:cubicBezTo>
                    <a:pt x="22832822" y="9119943"/>
                    <a:pt x="22825202" y="9182112"/>
                    <a:pt x="22815930" y="9182112"/>
                  </a:cubicBezTo>
                  <a:lnTo>
                    <a:pt x="16891" y="9182112"/>
                  </a:lnTo>
                  <a:cubicBezTo>
                    <a:pt x="7620" y="9182888"/>
                    <a:pt x="0" y="9119943"/>
                    <a:pt x="0" y="9041967"/>
                  </a:cubicBezTo>
                  <a:lnTo>
                    <a:pt x="0" y="140145"/>
                  </a:lnTo>
                  <a:cubicBezTo>
                    <a:pt x="0" y="63223"/>
                    <a:pt x="7620" y="0"/>
                    <a:pt x="16891" y="0"/>
                  </a:cubicBezTo>
                  <a:moveTo>
                    <a:pt x="16891" y="281343"/>
                  </a:moveTo>
                  <a:lnTo>
                    <a:pt x="16891" y="140145"/>
                  </a:lnTo>
                  <a:lnTo>
                    <a:pt x="33909" y="140145"/>
                  </a:lnTo>
                  <a:lnTo>
                    <a:pt x="33909" y="9041967"/>
                  </a:lnTo>
                  <a:lnTo>
                    <a:pt x="16891" y="9041967"/>
                  </a:lnTo>
                  <a:lnTo>
                    <a:pt x="16891" y="8901823"/>
                  </a:lnTo>
                  <a:lnTo>
                    <a:pt x="22815930" y="8901823"/>
                  </a:lnTo>
                  <a:lnTo>
                    <a:pt x="22815930" y="9041968"/>
                  </a:lnTo>
                  <a:lnTo>
                    <a:pt x="22799039" y="9041968"/>
                  </a:lnTo>
                  <a:lnTo>
                    <a:pt x="22799039" y="140145"/>
                  </a:lnTo>
                  <a:lnTo>
                    <a:pt x="22815930" y="140145"/>
                  </a:lnTo>
                  <a:lnTo>
                    <a:pt x="22815930" y="281343"/>
                  </a:lnTo>
                  <a:lnTo>
                    <a:pt x="16891" y="281343"/>
                  </a:lnTo>
                  <a:close/>
                </a:path>
              </a:pathLst>
            </a:custGeom>
            <a:solidFill>
              <a:srgbClr val="93C5FD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106960" y="3747358"/>
            <a:ext cx="7687160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Observations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LoadAware 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achieves the lowest average makespan, indicating efficient workload distribution across processors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RoundRobin 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performs closely, showing stable and fair task allocation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MaxMin 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results in the highest makespan, due to prioritizing long tasks and creating execution bottlenecks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0263" y="499367"/>
            <a:ext cx="135131" cy="1397003"/>
            <a:chOff x="0" y="0"/>
            <a:chExt cx="180175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862582"/>
            </a:xfrm>
            <a:custGeom>
              <a:avLst/>
              <a:gdLst/>
              <a:ahLst/>
              <a:cxnLst/>
              <a:rect r="r" b="b" t="t" l="l"/>
              <a:pathLst>
                <a:path h="18625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845691"/>
                  </a:lnTo>
                  <a:cubicBezTo>
                    <a:pt x="180086" y="1855089"/>
                    <a:pt x="172466" y="1862582"/>
                    <a:pt x="163195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63195" y="1828800"/>
                  </a:lnTo>
                  <a:lnTo>
                    <a:pt x="163195" y="1845691"/>
                  </a:lnTo>
                  <a:lnTo>
                    <a:pt x="146304" y="18456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457200"/>
            <a:ext cx="16642080" cy="768096"/>
            <a:chOff x="0" y="0"/>
            <a:chExt cx="22189440" cy="1024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1894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b="true" sz="4000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— Speedup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3856" y="1225296"/>
            <a:ext cx="16642080" cy="512064"/>
            <a:chOff x="0" y="0"/>
            <a:chExt cx="22189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89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Parallel speedup vs sequential single-processor execution · higher is better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8105777" y="6095400"/>
            <a:ext cx="16667483" cy="25309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877829" y="8505401"/>
            <a:ext cx="17124683" cy="1049531"/>
            <a:chOff x="0" y="0"/>
            <a:chExt cx="22832911" cy="13993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22799039" cy="1365504"/>
            </a:xfrm>
            <a:custGeom>
              <a:avLst/>
              <a:gdLst/>
              <a:ahLst/>
              <a:cxnLst/>
              <a:rect r="r" b="b" t="t" l="l"/>
              <a:pathLst>
                <a:path h="1365504" w="22799039">
                  <a:moveTo>
                    <a:pt x="0" y="0"/>
                  </a:moveTo>
                  <a:lnTo>
                    <a:pt x="22799039" y="0"/>
                  </a:lnTo>
                  <a:lnTo>
                    <a:pt x="22799039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32822" cy="1399286"/>
            </a:xfrm>
            <a:custGeom>
              <a:avLst/>
              <a:gdLst/>
              <a:ahLst/>
              <a:cxnLst/>
              <a:rect r="r" b="b" t="t" l="l"/>
              <a:pathLst>
                <a:path h="1399286" w="22832822">
                  <a:moveTo>
                    <a:pt x="16891" y="0"/>
                  </a:moveTo>
                  <a:lnTo>
                    <a:pt x="22815930" y="0"/>
                  </a:lnTo>
                  <a:cubicBezTo>
                    <a:pt x="22825329" y="0"/>
                    <a:pt x="22832822" y="7620"/>
                    <a:pt x="22832822" y="16891"/>
                  </a:cubicBezTo>
                  <a:lnTo>
                    <a:pt x="22832822" y="1382395"/>
                  </a:lnTo>
                  <a:cubicBezTo>
                    <a:pt x="22832822" y="1391793"/>
                    <a:pt x="22825202" y="1399286"/>
                    <a:pt x="22815930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22815930" y="1365504"/>
                  </a:lnTo>
                  <a:lnTo>
                    <a:pt x="22815930" y="1382395"/>
                  </a:lnTo>
                  <a:lnTo>
                    <a:pt x="22799039" y="1382395"/>
                  </a:lnTo>
                  <a:lnTo>
                    <a:pt x="22799039" y="16891"/>
                  </a:lnTo>
                  <a:lnTo>
                    <a:pt x="22815930" y="16891"/>
                  </a:lnTo>
                  <a:lnTo>
                    <a:pt x="22815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6EFAC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877829" y="1932894"/>
            <a:ext cx="8712543" cy="6534407"/>
          </a:xfrm>
          <a:custGeom>
            <a:avLst/>
            <a:gdLst/>
            <a:ahLst/>
            <a:cxnLst/>
            <a:rect r="r" b="b" t="t" l="l"/>
            <a:pathLst>
              <a:path h="6534407" w="8712543">
                <a:moveTo>
                  <a:pt x="0" y="0"/>
                </a:moveTo>
                <a:lnTo>
                  <a:pt x="8712543" y="0"/>
                </a:lnTo>
                <a:lnTo>
                  <a:pt x="8712543" y="6534407"/>
                </a:lnTo>
                <a:lnTo>
                  <a:pt x="0" y="65344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95840" y="8594432"/>
            <a:ext cx="1654047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i="true">
                <a:solidFill>
                  <a:srgbClr val="16653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LoadAware achieves the highest speedup due to balanced workload distribution. However, gains diminish as processors increase due to dependency constraints, consistent with Amdahl’s Law.</a:t>
            </a:r>
          </a:p>
          <a:p>
            <a:pPr algn="l">
              <a:lnSpc>
                <a:spcPts val="2639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9784972" y="1225296"/>
            <a:ext cx="7951345" cy="2588827"/>
            <a:chOff x="0" y="0"/>
            <a:chExt cx="5496655" cy="17896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066" y="21601"/>
              <a:ext cx="5488501" cy="1746304"/>
            </a:xfrm>
            <a:custGeom>
              <a:avLst/>
              <a:gdLst/>
              <a:ahLst/>
              <a:cxnLst/>
              <a:rect r="r" b="b" t="t" l="l"/>
              <a:pathLst>
                <a:path h="1746304" w="5488501">
                  <a:moveTo>
                    <a:pt x="0" y="0"/>
                  </a:moveTo>
                  <a:lnTo>
                    <a:pt x="5488501" y="0"/>
                  </a:lnTo>
                  <a:lnTo>
                    <a:pt x="5488501" y="1746304"/>
                  </a:lnTo>
                  <a:lnTo>
                    <a:pt x="0" y="1746304"/>
                  </a:ln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96634" cy="1789507"/>
            </a:xfrm>
            <a:custGeom>
              <a:avLst/>
              <a:gdLst/>
              <a:ahLst/>
              <a:cxnLst/>
              <a:rect r="r" b="b" t="t" l="l"/>
              <a:pathLst>
                <a:path h="1789507" w="5496634">
                  <a:moveTo>
                    <a:pt x="4066" y="0"/>
                  </a:moveTo>
                  <a:lnTo>
                    <a:pt x="5492567" y="0"/>
                  </a:lnTo>
                  <a:cubicBezTo>
                    <a:pt x="5494830" y="0"/>
                    <a:pt x="5496634" y="9745"/>
                    <a:pt x="5496634" y="21601"/>
                  </a:cubicBezTo>
                  <a:lnTo>
                    <a:pt x="5496634" y="1767905"/>
                  </a:lnTo>
                  <a:cubicBezTo>
                    <a:pt x="5496634" y="1779924"/>
                    <a:pt x="5494799" y="1789507"/>
                    <a:pt x="5492567" y="1789507"/>
                  </a:cubicBezTo>
                  <a:lnTo>
                    <a:pt x="4066" y="1789507"/>
                  </a:lnTo>
                  <a:cubicBezTo>
                    <a:pt x="1804" y="1789507"/>
                    <a:pt x="0" y="1779762"/>
                    <a:pt x="0" y="1767905"/>
                  </a:cubicBezTo>
                  <a:lnTo>
                    <a:pt x="0" y="21601"/>
                  </a:lnTo>
                  <a:cubicBezTo>
                    <a:pt x="0" y="9745"/>
                    <a:pt x="1834" y="0"/>
                    <a:pt x="4066" y="0"/>
                  </a:cubicBezTo>
                  <a:moveTo>
                    <a:pt x="4066" y="43365"/>
                  </a:moveTo>
                  <a:lnTo>
                    <a:pt x="4066" y="21601"/>
                  </a:lnTo>
                  <a:lnTo>
                    <a:pt x="8163" y="21601"/>
                  </a:lnTo>
                  <a:lnTo>
                    <a:pt x="8163" y="1767905"/>
                  </a:lnTo>
                  <a:lnTo>
                    <a:pt x="4066" y="1767905"/>
                  </a:lnTo>
                  <a:lnTo>
                    <a:pt x="4066" y="1746304"/>
                  </a:lnTo>
                  <a:lnTo>
                    <a:pt x="5492567" y="1746304"/>
                  </a:lnTo>
                  <a:lnTo>
                    <a:pt x="5492567" y="1767905"/>
                  </a:lnTo>
                  <a:lnTo>
                    <a:pt x="5488501" y="1767905"/>
                  </a:lnTo>
                  <a:lnTo>
                    <a:pt x="5488501" y="21601"/>
                  </a:lnTo>
                  <a:lnTo>
                    <a:pt x="5492567" y="21601"/>
                  </a:lnTo>
                  <a:lnTo>
                    <a:pt x="5492567" y="43365"/>
                  </a:lnTo>
                  <a:lnTo>
                    <a:pt x="4066" y="43365"/>
                  </a:lnTo>
                  <a:close/>
                </a:path>
              </a:pathLst>
            </a:custGeom>
            <a:solidFill>
              <a:srgbClr val="86EFAC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930654" y="1237650"/>
            <a:ext cx="8217540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1665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Observations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1665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LoadAware </a:t>
            </a:r>
            <a:r>
              <a:rPr lang="en-US" sz="2199">
                <a:solidFill>
                  <a:srgbClr val="166534"/>
                </a:solidFill>
                <a:latin typeface="Calibri (MS)"/>
                <a:ea typeface="Calibri (MS)"/>
                <a:cs typeface="Calibri (MS)"/>
                <a:sym typeface="Calibri (MS)"/>
              </a:rPr>
              <a:t>achieves the highest speedup (~2.48×), indicating efficient parallel execution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1665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RoundRobin </a:t>
            </a:r>
            <a:r>
              <a:rPr lang="en-US" sz="2199">
                <a:solidFill>
                  <a:srgbClr val="166534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performs closely (~2.4×), showing stable task distribution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1665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MaxMin </a:t>
            </a:r>
            <a:r>
              <a:rPr lang="en-US" sz="2199">
                <a:solidFill>
                  <a:srgbClr val="166534"/>
                </a:solidFill>
                <a:latin typeface="Calibri (MS)"/>
                <a:ea typeface="Calibri (MS)"/>
                <a:cs typeface="Calibri (MS)"/>
                <a:sym typeface="Calibri (MS)"/>
              </a:rPr>
              <a:t>has the lowest speedup (~2.08×) due to inefficient scheduling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84972" y="4683545"/>
            <a:ext cx="7951345" cy="3089091"/>
            <a:chOff x="0" y="0"/>
            <a:chExt cx="10601794" cy="41187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7843" y="49715"/>
              <a:ext cx="10586066" cy="4019095"/>
            </a:xfrm>
            <a:custGeom>
              <a:avLst/>
              <a:gdLst/>
              <a:ahLst/>
              <a:cxnLst/>
              <a:rect r="r" b="b" t="t" l="l"/>
              <a:pathLst>
                <a:path h="4019095" w="10586066">
                  <a:moveTo>
                    <a:pt x="0" y="0"/>
                  </a:moveTo>
                  <a:lnTo>
                    <a:pt x="10586066" y="0"/>
                  </a:lnTo>
                  <a:lnTo>
                    <a:pt x="10586066" y="4019096"/>
                  </a:lnTo>
                  <a:lnTo>
                    <a:pt x="0" y="4019096"/>
                  </a:ln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01752" cy="4118526"/>
            </a:xfrm>
            <a:custGeom>
              <a:avLst/>
              <a:gdLst/>
              <a:ahLst/>
              <a:cxnLst/>
              <a:rect r="r" b="b" t="t" l="l"/>
              <a:pathLst>
                <a:path h="4118526" w="10601752">
                  <a:moveTo>
                    <a:pt x="7843" y="0"/>
                  </a:moveTo>
                  <a:lnTo>
                    <a:pt x="10593909" y="0"/>
                  </a:lnTo>
                  <a:cubicBezTo>
                    <a:pt x="10598273" y="0"/>
                    <a:pt x="10601752" y="22428"/>
                    <a:pt x="10601752" y="49715"/>
                  </a:cubicBezTo>
                  <a:lnTo>
                    <a:pt x="10601752" y="4068811"/>
                  </a:lnTo>
                  <a:cubicBezTo>
                    <a:pt x="10601752" y="4096472"/>
                    <a:pt x="10598214" y="4118526"/>
                    <a:pt x="10593909" y="4118526"/>
                  </a:cubicBezTo>
                  <a:lnTo>
                    <a:pt x="7843" y="4118526"/>
                  </a:lnTo>
                  <a:cubicBezTo>
                    <a:pt x="3479" y="4118526"/>
                    <a:pt x="0" y="4096098"/>
                    <a:pt x="0" y="4068811"/>
                  </a:cubicBezTo>
                  <a:lnTo>
                    <a:pt x="0" y="49715"/>
                  </a:lnTo>
                  <a:cubicBezTo>
                    <a:pt x="0" y="22428"/>
                    <a:pt x="3538" y="0"/>
                    <a:pt x="7843" y="0"/>
                  </a:cubicBezTo>
                  <a:moveTo>
                    <a:pt x="7843" y="99805"/>
                  </a:moveTo>
                  <a:lnTo>
                    <a:pt x="7843" y="49715"/>
                  </a:lnTo>
                  <a:lnTo>
                    <a:pt x="15745" y="49715"/>
                  </a:lnTo>
                  <a:lnTo>
                    <a:pt x="15745" y="4068811"/>
                  </a:lnTo>
                  <a:lnTo>
                    <a:pt x="7843" y="4068811"/>
                  </a:lnTo>
                  <a:lnTo>
                    <a:pt x="7843" y="4019095"/>
                  </a:lnTo>
                  <a:lnTo>
                    <a:pt x="10593909" y="4019095"/>
                  </a:lnTo>
                  <a:lnTo>
                    <a:pt x="10593909" y="4068811"/>
                  </a:lnTo>
                  <a:lnTo>
                    <a:pt x="10586066" y="4068811"/>
                  </a:lnTo>
                  <a:lnTo>
                    <a:pt x="10586066" y="49715"/>
                  </a:lnTo>
                  <a:lnTo>
                    <a:pt x="10593909" y="49715"/>
                  </a:lnTo>
                  <a:lnTo>
                    <a:pt x="10593909" y="99805"/>
                  </a:lnTo>
                  <a:lnTo>
                    <a:pt x="7843" y="99805"/>
                  </a:lnTo>
                  <a:close/>
                </a:path>
              </a:pathLst>
            </a:custGeom>
            <a:solidFill>
              <a:srgbClr val="86EFA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930654" y="4808865"/>
            <a:ext cx="7632508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b="true" sz="2599">
                <a:solidFill>
                  <a:srgbClr val="1665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this happens?</a:t>
            </a:r>
          </a:p>
          <a:p>
            <a:pPr algn="just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1665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Speedup </a:t>
            </a:r>
            <a:r>
              <a:rPr lang="en-US" sz="2199">
                <a:solidFill>
                  <a:srgbClr val="166534"/>
                </a:solidFill>
                <a:latin typeface="Calibri (MS)"/>
                <a:ea typeface="Calibri (MS)"/>
                <a:cs typeface="Calibri (MS)"/>
                <a:sym typeface="Calibri (MS)"/>
              </a:rPr>
              <a:t>depends on how effectively processors are utilized in parallel</a:t>
            </a:r>
          </a:p>
          <a:p>
            <a:pPr algn="just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1665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LoadAware </a:t>
            </a:r>
            <a:r>
              <a:rPr lang="en-US" sz="2199">
                <a:solidFill>
                  <a:srgbClr val="166534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idle time → more parallel work executed simultaneously</a:t>
            </a:r>
          </a:p>
          <a:p>
            <a:pPr algn="just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1665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MaxMin </a:t>
            </a:r>
            <a:r>
              <a:rPr lang="en-US" sz="2199">
                <a:solidFill>
                  <a:srgbClr val="166534"/>
                </a:solidFill>
                <a:latin typeface="Calibri (MS)"/>
                <a:ea typeface="Calibri (MS)"/>
                <a:cs typeface="Calibri (MS)"/>
                <a:sym typeface="Calibri (MS)"/>
              </a:rPr>
              <a:t>creates bottlenecks → limits concurrent execution</a:t>
            </a:r>
          </a:p>
          <a:p>
            <a:pPr algn="just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1665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RoundRobin </a:t>
            </a:r>
            <a:r>
              <a:rPr lang="en-US" sz="2199">
                <a:solidFill>
                  <a:srgbClr val="166534"/>
                </a:solidFill>
                <a:latin typeface="Calibri (MS)"/>
                <a:ea typeface="Calibri (MS)"/>
                <a:cs typeface="Calibri (MS)"/>
                <a:sym typeface="Calibri (MS)"/>
              </a:rPr>
              <a:t>ensures fairness but does not fully optimize execution time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0263" y="499367"/>
            <a:ext cx="135131" cy="1397003"/>
            <a:chOff x="0" y="0"/>
            <a:chExt cx="180175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862582"/>
            </a:xfrm>
            <a:custGeom>
              <a:avLst/>
              <a:gdLst/>
              <a:ahLst/>
              <a:cxnLst/>
              <a:rect r="r" b="b" t="t" l="l"/>
              <a:pathLst>
                <a:path h="18625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845691"/>
                  </a:lnTo>
                  <a:cubicBezTo>
                    <a:pt x="180086" y="1855089"/>
                    <a:pt x="172466" y="1862582"/>
                    <a:pt x="163195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63195" y="1828800"/>
                  </a:lnTo>
                  <a:lnTo>
                    <a:pt x="163195" y="1845691"/>
                  </a:lnTo>
                  <a:lnTo>
                    <a:pt x="146304" y="18456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457200"/>
            <a:ext cx="16642080" cy="768096"/>
            <a:chOff x="0" y="0"/>
            <a:chExt cx="22189440" cy="1024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1894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b="true" sz="4000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— CPU Utilization (Efficiency)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3856" y="1225296"/>
            <a:ext cx="16642080" cy="512064"/>
            <a:chOff x="0" y="0"/>
            <a:chExt cx="22189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89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Fraction of time processors are doing useful work · higher is better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5220">
            <a:off x="810254" y="1915477"/>
            <a:ext cx="16667502" cy="0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2099582"/>
            <a:ext cx="8569506" cy="6427130"/>
          </a:xfrm>
          <a:custGeom>
            <a:avLst/>
            <a:gdLst/>
            <a:ahLst/>
            <a:cxnLst/>
            <a:rect r="r" b="b" t="t" l="l"/>
            <a:pathLst>
              <a:path h="6427130" w="8569506">
                <a:moveTo>
                  <a:pt x="0" y="0"/>
                </a:moveTo>
                <a:lnTo>
                  <a:pt x="8569506" y="0"/>
                </a:lnTo>
                <a:lnTo>
                  <a:pt x="8569506" y="6427129"/>
                </a:lnTo>
                <a:lnTo>
                  <a:pt x="0" y="64271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4617" y="8694931"/>
            <a:ext cx="17124683" cy="1049531"/>
            <a:chOff x="0" y="0"/>
            <a:chExt cx="22832911" cy="13993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22799039" cy="1365504"/>
            </a:xfrm>
            <a:custGeom>
              <a:avLst/>
              <a:gdLst/>
              <a:ahLst/>
              <a:cxnLst/>
              <a:rect r="r" b="b" t="t" l="l"/>
              <a:pathLst>
                <a:path h="1365504" w="22799039">
                  <a:moveTo>
                    <a:pt x="0" y="0"/>
                  </a:moveTo>
                  <a:lnTo>
                    <a:pt x="22799039" y="0"/>
                  </a:lnTo>
                  <a:lnTo>
                    <a:pt x="22799039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32822" cy="1399286"/>
            </a:xfrm>
            <a:custGeom>
              <a:avLst/>
              <a:gdLst/>
              <a:ahLst/>
              <a:cxnLst/>
              <a:rect r="r" b="b" t="t" l="l"/>
              <a:pathLst>
                <a:path h="1399286" w="22832822">
                  <a:moveTo>
                    <a:pt x="16891" y="0"/>
                  </a:moveTo>
                  <a:lnTo>
                    <a:pt x="22815930" y="0"/>
                  </a:lnTo>
                  <a:cubicBezTo>
                    <a:pt x="22825329" y="0"/>
                    <a:pt x="22832822" y="7620"/>
                    <a:pt x="22832822" y="16891"/>
                  </a:cubicBezTo>
                  <a:lnTo>
                    <a:pt x="22832822" y="1382395"/>
                  </a:lnTo>
                  <a:cubicBezTo>
                    <a:pt x="22832822" y="1391793"/>
                    <a:pt x="22825202" y="1399286"/>
                    <a:pt x="22815930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22815930" y="1365504"/>
                  </a:lnTo>
                  <a:lnTo>
                    <a:pt x="22815930" y="1382395"/>
                  </a:lnTo>
                  <a:lnTo>
                    <a:pt x="22799039" y="1382395"/>
                  </a:lnTo>
                  <a:lnTo>
                    <a:pt x="22799039" y="16891"/>
                  </a:lnTo>
                  <a:lnTo>
                    <a:pt x="22815930" y="16891"/>
                  </a:lnTo>
                  <a:lnTo>
                    <a:pt x="22815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CA5A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63870" y="8783952"/>
            <a:ext cx="1654047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i="true">
                <a:solidFill>
                  <a:srgbClr val="92400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Utilization decreases as dependency constraints increase, leading to processor idle time. LoadAware maintains the highest utilization by balancing workload, while MaxMin performs worst due to imbalance.</a:t>
            </a:r>
          </a:p>
          <a:p>
            <a:pPr algn="l">
              <a:lnSpc>
                <a:spcPts val="2639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9838884" y="1197869"/>
            <a:ext cx="7420416" cy="3343760"/>
            <a:chOff x="0" y="0"/>
            <a:chExt cx="32554310" cy="146695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4083" y="177067"/>
              <a:ext cx="32506016" cy="14314436"/>
            </a:xfrm>
            <a:custGeom>
              <a:avLst/>
              <a:gdLst/>
              <a:ahLst/>
              <a:cxnLst/>
              <a:rect r="r" b="b" t="t" l="l"/>
              <a:pathLst>
                <a:path h="14314436" w="32506016">
                  <a:moveTo>
                    <a:pt x="0" y="0"/>
                  </a:moveTo>
                  <a:lnTo>
                    <a:pt x="32506015" y="0"/>
                  </a:lnTo>
                  <a:lnTo>
                    <a:pt x="32506015" y="14314436"/>
                  </a:lnTo>
                  <a:lnTo>
                    <a:pt x="0" y="14314436"/>
                  </a:ln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554183" cy="14668570"/>
            </a:xfrm>
            <a:custGeom>
              <a:avLst/>
              <a:gdLst/>
              <a:ahLst/>
              <a:cxnLst/>
              <a:rect r="r" b="b" t="t" l="l"/>
              <a:pathLst>
                <a:path h="14668570" w="32554183">
                  <a:moveTo>
                    <a:pt x="24083" y="0"/>
                  </a:moveTo>
                  <a:lnTo>
                    <a:pt x="32530098" y="0"/>
                  </a:lnTo>
                  <a:cubicBezTo>
                    <a:pt x="32543502" y="0"/>
                    <a:pt x="32554183" y="79880"/>
                    <a:pt x="32554183" y="177067"/>
                  </a:cubicBezTo>
                  <a:lnTo>
                    <a:pt x="32554183" y="14491503"/>
                  </a:lnTo>
                  <a:cubicBezTo>
                    <a:pt x="32554183" y="14590021"/>
                    <a:pt x="32543319" y="14668570"/>
                    <a:pt x="32530098" y="14668570"/>
                  </a:cubicBezTo>
                  <a:lnTo>
                    <a:pt x="24083" y="14668570"/>
                  </a:lnTo>
                  <a:cubicBezTo>
                    <a:pt x="10683" y="14668570"/>
                    <a:pt x="0" y="14588689"/>
                    <a:pt x="0" y="14491503"/>
                  </a:cubicBezTo>
                  <a:lnTo>
                    <a:pt x="0" y="177067"/>
                  </a:lnTo>
                  <a:cubicBezTo>
                    <a:pt x="0" y="79880"/>
                    <a:pt x="10864" y="0"/>
                    <a:pt x="24083" y="0"/>
                  </a:cubicBezTo>
                  <a:moveTo>
                    <a:pt x="24083" y="355465"/>
                  </a:moveTo>
                  <a:lnTo>
                    <a:pt x="24083" y="177067"/>
                  </a:lnTo>
                  <a:lnTo>
                    <a:pt x="48346" y="177067"/>
                  </a:lnTo>
                  <a:lnTo>
                    <a:pt x="48346" y="14491503"/>
                  </a:lnTo>
                  <a:lnTo>
                    <a:pt x="24083" y="14491503"/>
                  </a:lnTo>
                  <a:lnTo>
                    <a:pt x="24083" y="14314436"/>
                  </a:lnTo>
                  <a:lnTo>
                    <a:pt x="32530098" y="14314436"/>
                  </a:lnTo>
                  <a:lnTo>
                    <a:pt x="32530098" y="14491503"/>
                  </a:lnTo>
                  <a:lnTo>
                    <a:pt x="32506016" y="14491503"/>
                  </a:lnTo>
                  <a:lnTo>
                    <a:pt x="32506016" y="177067"/>
                  </a:lnTo>
                  <a:lnTo>
                    <a:pt x="32530098" y="177067"/>
                  </a:lnTo>
                  <a:lnTo>
                    <a:pt x="32530098" y="355465"/>
                  </a:lnTo>
                  <a:lnTo>
                    <a:pt x="24083" y="355465"/>
                  </a:lnTo>
                  <a:close/>
                </a:path>
              </a:pathLst>
            </a:custGeom>
            <a:solidFill>
              <a:srgbClr val="FCA5A5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937518" y="1283836"/>
            <a:ext cx="7420416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92400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Observations</a:t>
            </a: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b="true" sz="2200">
                <a:solidFill>
                  <a:srgbClr val="92400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LoadAware </a:t>
            </a:r>
            <a:r>
              <a:rPr lang="en-US" sz="22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achieves the </a:t>
            </a:r>
            <a:r>
              <a:rPr lang="en-US" b="true" sz="2200">
                <a:solidFill>
                  <a:srgbClr val="92400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highest utilization</a:t>
            </a:r>
            <a:r>
              <a:rPr lang="en-US" sz="22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 (~66%), indicating better processor usage</a:t>
            </a: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b="true" sz="2200">
                <a:solidFill>
                  <a:srgbClr val="92400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RoundRobin </a:t>
            </a:r>
            <a:r>
              <a:rPr lang="en-US" sz="22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and </a:t>
            </a:r>
            <a:r>
              <a:rPr lang="en-US" b="true" sz="2200">
                <a:solidFill>
                  <a:srgbClr val="92400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MinMin </a:t>
            </a:r>
            <a:r>
              <a:rPr lang="en-US" sz="22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show </a:t>
            </a:r>
            <a:r>
              <a:rPr lang="en-US" b="true" sz="2200">
                <a:solidFill>
                  <a:srgbClr val="92400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moderate utilization</a:t>
            </a:r>
            <a:r>
              <a:rPr lang="en-US" sz="22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 (~62–64%)</a:t>
            </a: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b="true" sz="2200">
                <a:solidFill>
                  <a:srgbClr val="92400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MaxMin </a:t>
            </a:r>
            <a:r>
              <a:rPr lang="en-US" sz="22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has the </a:t>
            </a:r>
            <a:r>
              <a:rPr lang="en-US" b="true" sz="2200">
                <a:solidFill>
                  <a:srgbClr val="92400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lowest utilization</a:t>
            </a:r>
            <a:r>
              <a:rPr lang="en-US" sz="22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 (~56%), due to uneven workload distribution</a:t>
            </a: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Overall utilization remains well below 100%, showing limitations in parallel execution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38884" y="5038482"/>
            <a:ext cx="7420416" cy="3343760"/>
            <a:chOff x="0" y="0"/>
            <a:chExt cx="32554310" cy="146695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4083" y="177067"/>
              <a:ext cx="32506016" cy="14314436"/>
            </a:xfrm>
            <a:custGeom>
              <a:avLst/>
              <a:gdLst/>
              <a:ahLst/>
              <a:cxnLst/>
              <a:rect r="r" b="b" t="t" l="l"/>
              <a:pathLst>
                <a:path h="14314436" w="32506016">
                  <a:moveTo>
                    <a:pt x="0" y="0"/>
                  </a:moveTo>
                  <a:lnTo>
                    <a:pt x="32506015" y="0"/>
                  </a:lnTo>
                  <a:lnTo>
                    <a:pt x="32506015" y="14314436"/>
                  </a:lnTo>
                  <a:lnTo>
                    <a:pt x="0" y="14314436"/>
                  </a:ln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554183" cy="14668570"/>
            </a:xfrm>
            <a:custGeom>
              <a:avLst/>
              <a:gdLst/>
              <a:ahLst/>
              <a:cxnLst/>
              <a:rect r="r" b="b" t="t" l="l"/>
              <a:pathLst>
                <a:path h="14668570" w="32554183">
                  <a:moveTo>
                    <a:pt x="24083" y="0"/>
                  </a:moveTo>
                  <a:lnTo>
                    <a:pt x="32530098" y="0"/>
                  </a:lnTo>
                  <a:cubicBezTo>
                    <a:pt x="32543502" y="0"/>
                    <a:pt x="32554183" y="79880"/>
                    <a:pt x="32554183" y="177067"/>
                  </a:cubicBezTo>
                  <a:lnTo>
                    <a:pt x="32554183" y="14491503"/>
                  </a:lnTo>
                  <a:cubicBezTo>
                    <a:pt x="32554183" y="14590021"/>
                    <a:pt x="32543319" y="14668570"/>
                    <a:pt x="32530098" y="14668570"/>
                  </a:cubicBezTo>
                  <a:lnTo>
                    <a:pt x="24083" y="14668570"/>
                  </a:lnTo>
                  <a:cubicBezTo>
                    <a:pt x="10683" y="14668570"/>
                    <a:pt x="0" y="14588689"/>
                    <a:pt x="0" y="14491503"/>
                  </a:cubicBezTo>
                  <a:lnTo>
                    <a:pt x="0" y="177067"/>
                  </a:lnTo>
                  <a:cubicBezTo>
                    <a:pt x="0" y="79880"/>
                    <a:pt x="10864" y="0"/>
                    <a:pt x="24083" y="0"/>
                  </a:cubicBezTo>
                  <a:moveTo>
                    <a:pt x="24083" y="355465"/>
                  </a:moveTo>
                  <a:lnTo>
                    <a:pt x="24083" y="177067"/>
                  </a:lnTo>
                  <a:lnTo>
                    <a:pt x="48346" y="177067"/>
                  </a:lnTo>
                  <a:lnTo>
                    <a:pt x="48346" y="14491503"/>
                  </a:lnTo>
                  <a:lnTo>
                    <a:pt x="24083" y="14491503"/>
                  </a:lnTo>
                  <a:lnTo>
                    <a:pt x="24083" y="14314436"/>
                  </a:lnTo>
                  <a:lnTo>
                    <a:pt x="32530098" y="14314436"/>
                  </a:lnTo>
                  <a:lnTo>
                    <a:pt x="32530098" y="14491503"/>
                  </a:lnTo>
                  <a:lnTo>
                    <a:pt x="32506016" y="14491503"/>
                  </a:lnTo>
                  <a:lnTo>
                    <a:pt x="32506016" y="177067"/>
                  </a:lnTo>
                  <a:lnTo>
                    <a:pt x="32530098" y="177067"/>
                  </a:lnTo>
                  <a:lnTo>
                    <a:pt x="32530098" y="355465"/>
                  </a:lnTo>
                  <a:lnTo>
                    <a:pt x="24083" y="355465"/>
                  </a:lnTo>
                  <a:close/>
                </a:path>
              </a:pathLst>
            </a:custGeom>
            <a:solidFill>
              <a:srgbClr val="FCA5A5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937518" y="5086350"/>
            <a:ext cx="7420416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92400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this happens?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Task dependencies prevent all processors from working simultaneously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Some processors remain idle while waiting for prerequisite tasks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LoadAware minimizes idle time through balanced scheduling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92400E"/>
                </a:solidFill>
                <a:latin typeface="Calibri (MS)"/>
                <a:ea typeface="Calibri (MS)"/>
                <a:cs typeface="Calibri (MS)"/>
                <a:sym typeface="Calibri (MS)"/>
              </a:rPr>
              <a:t>MaxMin creates imbalance → some processors overloaded, others idle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0263" y="499367"/>
            <a:ext cx="135131" cy="1397003"/>
            <a:chOff x="0" y="0"/>
            <a:chExt cx="180175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862582"/>
            </a:xfrm>
            <a:custGeom>
              <a:avLst/>
              <a:gdLst/>
              <a:ahLst/>
              <a:cxnLst/>
              <a:rect r="r" b="b" t="t" l="l"/>
              <a:pathLst>
                <a:path h="18625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845691"/>
                  </a:lnTo>
                  <a:cubicBezTo>
                    <a:pt x="180086" y="1855089"/>
                    <a:pt x="172466" y="1862582"/>
                    <a:pt x="163195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63195" y="1828800"/>
                  </a:lnTo>
                  <a:lnTo>
                    <a:pt x="163195" y="1845691"/>
                  </a:lnTo>
                  <a:lnTo>
                    <a:pt x="146304" y="18456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457200"/>
            <a:ext cx="16642080" cy="768096"/>
            <a:chOff x="0" y="0"/>
            <a:chExt cx="22189440" cy="1024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1894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b="true" sz="4000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— Load Imbalance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3856" y="1225296"/>
            <a:ext cx="16642080" cy="512064"/>
            <a:chOff x="0" y="0"/>
            <a:chExt cx="22189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89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Work distribution across processors · lower = more balanced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3064185" y="1091051"/>
            <a:ext cx="12981844" cy="19712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9768766" y="737434"/>
            <a:ext cx="4720308" cy="19772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27383" y="8637527"/>
            <a:ext cx="17124683" cy="1012955"/>
            <a:chOff x="0" y="0"/>
            <a:chExt cx="22832911" cy="13506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227990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22799039">
                  <a:moveTo>
                    <a:pt x="0" y="0"/>
                  </a:moveTo>
                  <a:lnTo>
                    <a:pt x="22799039" y="0"/>
                  </a:lnTo>
                  <a:lnTo>
                    <a:pt x="22799039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FEF2F2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32822" cy="1350518"/>
            </a:xfrm>
            <a:custGeom>
              <a:avLst/>
              <a:gdLst/>
              <a:ahLst/>
              <a:cxnLst/>
              <a:rect r="r" b="b" t="t" l="l"/>
              <a:pathLst>
                <a:path h="1350518" w="22832822">
                  <a:moveTo>
                    <a:pt x="16891" y="0"/>
                  </a:moveTo>
                  <a:lnTo>
                    <a:pt x="22815930" y="0"/>
                  </a:lnTo>
                  <a:cubicBezTo>
                    <a:pt x="22825329" y="0"/>
                    <a:pt x="22832822" y="7620"/>
                    <a:pt x="22832822" y="16891"/>
                  </a:cubicBezTo>
                  <a:lnTo>
                    <a:pt x="22832822" y="1333627"/>
                  </a:lnTo>
                  <a:cubicBezTo>
                    <a:pt x="22832822" y="1343025"/>
                    <a:pt x="22825202" y="1350518"/>
                    <a:pt x="22815930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22815930" y="1316736"/>
                  </a:lnTo>
                  <a:lnTo>
                    <a:pt x="22815930" y="1333627"/>
                  </a:lnTo>
                  <a:lnTo>
                    <a:pt x="22799039" y="1333627"/>
                  </a:lnTo>
                  <a:lnTo>
                    <a:pt x="22799039" y="16891"/>
                  </a:lnTo>
                  <a:lnTo>
                    <a:pt x="22815930" y="16891"/>
                  </a:lnTo>
                  <a:lnTo>
                    <a:pt x="22815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CA5A5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133856" y="1928617"/>
            <a:ext cx="8568271" cy="6426203"/>
          </a:xfrm>
          <a:custGeom>
            <a:avLst/>
            <a:gdLst/>
            <a:ahLst/>
            <a:cxnLst/>
            <a:rect r="r" b="b" t="t" l="l"/>
            <a:pathLst>
              <a:path h="6426203" w="8568271">
                <a:moveTo>
                  <a:pt x="0" y="0"/>
                </a:moveTo>
                <a:lnTo>
                  <a:pt x="8568271" y="0"/>
                </a:lnTo>
                <a:lnTo>
                  <a:pt x="8568271" y="6426203"/>
                </a:lnTo>
                <a:lnTo>
                  <a:pt x="0" y="64262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56637" y="8708260"/>
            <a:ext cx="1654047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i="true">
                <a:solidFill>
                  <a:srgbClr val="991B1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LoadAware achieves near-perfect load balance, ensuring efficient processor utilization. In contrast, MaxMin creates significant imbalance by prioritizing long tasks, leading to idle processors and reduced performance.</a:t>
            </a:r>
          </a:p>
          <a:p>
            <a:pPr algn="l">
              <a:lnSpc>
                <a:spcPts val="2639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0071683" y="1028700"/>
            <a:ext cx="7704487" cy="3283035"/>
            <a:chOff x="0" y="0"/>
            <a:chExt cx="25863518" cy="11020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9133" y="137831"/>
              <a:ext cx="25825150" cy="10744573"/>
            </a:xfrm>
            <a:custGeom>
              <a:avLst/>
              <a:gdLst/>
              <a:ahLst/>
              <a:cxnLst/>
              <a:rect r="r" b="b" t="t" l="l"/>
              <a:pathLst>
                <a:path h="10744573" w="25825150">
                  <a:moveTo>
                    <a:pt x="0" y="0"/>
                  </a:moveTo>
                  <a:lnTo>
                    <a:pt x="25825150" y="0"/>
                  </a:lnTo>
                  <a:lnTo>
                    <a:pt x="25825150" y="10744573"/>
                  </a:lnTo>
                  <a:lnTo>
                    <a:pt x="0" y="10744573"/>
                  </a:lnTo>
                  <a:close/>
                </a:path>
              </a:pathLst>
            </a:custGeom>
            <a:solidFill>
              <a:srgbClr val="FEF2F2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863417" cy="11020235"/>
            </a:xfrm>
            <a:custGeom>
              <a:avLst/>
              <a:gdLst/>
              <a:ahLst/>
              <a:cxnLst/>
              <a:rect r="r" b="b" t="t" l="l"/>
              <a:pathLst>
                <a:path h="11020235" w="25863417">
                  <a:moveTo>
                    <a:pt x="19133" y="0"/>
                  </a:moveTo>
                  <a:lnTo>
                    <a:pt x="25844283" y="0"/>
                  </a:lnTo>
                  <a:cubicBezTo>
                    <a:pt x="25854930" y="0"/>
                    <a:pt x="25863417" y="62179"/>
                    <a:pt x="25863417" y="137831"/>
                  </a:cubicBezTo>
                  <a:lnTo>
                    <a:pt x="25863417" y="10882404"/>
                  </a:lnTo>
                  <a:cubicBezTo>
                    <a:pt x="25863417" y="10959092"/>
                    <a:pt x="25854786" y="11020235"/>
                    <a:pt x="25844283" y="11020235"/>
                  </a:cubicBezTo>
                  <a:lnTo>
                    <a:pt x="19133" y="11020235"/>
                  </a:lnTo>
                  <a:cubicBezTo>
                    <a:pt x="8488" y="11020235"/>
                    <a:pt x="0" y="10958056"/>
                    <a:pt x="0" y="10882404"/>
                  </a:cubicBezTo>
                  <a:lnTo>
                    <a:pt x="0" y="137831"/>
                  </a:lnTo>
                  <a:cubicBezTo>
                    <a:pt x="0" y="62179"/>
                    <a:pt x="8631" y="0"/>
                    <a:pt x="19133" y="0"/>
                  </a:cubicBezTo>
                  <a:moveTo>
                    <a:pt x="19133" y="276698"/>
                  </a:moveTo>
                  <a:lnTo>
                    <a:pt x="19133" y="137831"/>
                  </a:lnTo>
                  <a:lnTo>
                    <a:pt x="38410" y="137831"/>
                  </a:lnTo>
                  <a:lnTo>
                    <a:pt x="38410" y="10882404"/>
                  </a:lnTo>
                  <a:lnTo>
                    <a:pt x="19133" y="10882404"/>
                  </a:lnTo>
                  <a:lnTo>
                    <a:pt x="19133" y="10744574"/>
                  </a:lnTo>
                  <a:lnTo>
                    <a:pt x="25844283" y="10744574"/>
                  </a:lnTo>
                  <a:lnTo>
                    <a:pt x="25844283" y="10882404"/>
                  </a:lnTo>
                  <a:lnTo>
                    <a:pt x="25825151" y="10882404"/>
                  </a:lnTo>
                  <a:lnTo>
                    <a:pt x="25825151" y="137831"/>
                  </a:lnTo>
                  <a:lnTo>
                    <a:pt x="25844283" y="137831"/>
                  </a:lnTo>
                  <a:lnTo>
                    <a:pt x="25844283" y="276698"/>
                  </a:lnTo>
                  <a:lnTo>
                    <a:pt x="19133" y="276698"/>
                  </a:lnTo>
                  <a:close/>
                </a:path>
              </a:pathLst>
            </a:custGeom>
            <a:solidFill>
              <a:srgbClr val="FCA5A5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161211" y="1084305"/>
            <a:ext cx="7525431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991B1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Observations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991B1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LoadAware </a:t>
            </a:r>
            <a:r>
              <a:rPr lang="en-US" sz="2199">
                <a:solidFill>
                  <a:srgbClr val="991B1B"/>
                </a:solidFill>
                <a:latin typeface="Calibri (MS)"/>
                <a:ea typeface="Calibri (MS)"/>
                <a:cs typeface="Calibri (MS)"/>
                <a:sym typeface="Calibri (MS)"/>
              </a:rPr>
              <a:t>achieves the </a:t>
            </a:r>
            <a:r>
              <a:rPr lang="en-US" b="true" sz="2199">
                <a:solidFill>
                  <a:srgbClr val="991B1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lowest load imbalance</a:t>
            </a:r>
            <a:r>
              <a:rPr lang="en-US" sz="2199">
                <a:solidFill>
                  <a:srgbClr val="991B1B"/>
                </a:solidFill>
                <a:latin typeface="Calibri (MS)"/>
                <a:ea typeface="Calibri (MS)"/>
                <a:cs typeface="Calibri (MS)"/>
                <a:sym typeface="Calibri (MS)"/>
              </a:rPr>
              <a:t> (~0.23–0.29), indicating near-uniform workload distribution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991B1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RoundRobin </a:t>
            </a:r>
            <a:r>
              <a:rPr lang="en-US" sz="2199">
                <a:solidFill>
                  <a:srgbClr val="991B1B"/>
                </a:solidFill>
                <a:latin typeface="Calibri (MS)"/>
                <a:ea typeface="Calibri (MS)"/>
                <a:cs typeface="Calibri (MS)"/>
                <a:sym typeface="Calibri (MS)"/>
              </a:rPr>
              <a:t>also performs </a:t>
            </a:r>
            <a:r>
              <a:rPr lang="en-US" b="true" sz="2199">
                <a:solidFill>
                  <a:srgbClr val="991B1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well </a:t>
            </a:r>
            <a:r>
              <a:rPr lang="en-US" sz="2199">
                <a:solidFill>
                  <a:srgbClr val="991B1B"/>
                </a:solidFill>
                <a:latin typeface="Calibri (MS)"/>
                <a:ea typeface="Calibri (MS)"/>
                <a:cs typeface="Calibri (MS)"/>
                <a:sym typeface="Calibri (MS)"/>
              </a:rPr>
              <a:t>(~0.28), due to cyclic task assignment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991B1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MinMin </a:t>
            </a:r>
            <a:r>
              <a:rPr lang="en-US" sz="2199">
                <a:solidFill>
                  <a:srgbClr val="991B1B"/>
                </a:solidFill>
                <a:latin typeface="Calibri (MS)"/>
                <a:ea typeface="Calibri (MS)"/>
                <a:cs typeface="Calibri (MS)"/>
                <a:sym typeface="Calibri (MS)"/>
              </a:rPr>
              <a:t>and </a:t>
            </a:r>
            <a:r>
              <a:rPr lang="en-US" b="true" sz="2199">
                <a:solidFill>
                  <a:srgbClr val="991B1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FCFS </a:t>
            </a:r>
            <a:r>
              <a:rPr lang="en-US" sz="2199">
                <a:solidFill>
                  <a:srgbClr val="991B1B"/>
                </a:solidFill>
                <a:latin typeface="Calibri (MS)"/>
                <a:ea typeface="Calibri (MS)"/>
                <a:cs typeface="Calibri (MS)"/>
                <a:sym typeface="Calibri (MS)"/>
              </a:rPr>
              <a:t>show </a:t>
            </a:r>
            <a:r>
              <a:rPr lang="en-US" b="true" sz="2199">
                <a:solidFill>
                  <a:srgbClr val="991B1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moderate imbalance</a:t>
            </a:r>
            <a:r>
              <a:rPr lang="en-US" sz="2199">
                <a:solidFill>
                  <a:srgbClr val="991B1B"/>
                </a:solidFill>
                <a:latin typeface="Calibri (MS)"/>
                <a:ea typeface="Calibri (MS)"/>
                <a:cs typeface="Calibri (MS)"/>
                <a:sym typeface="Calibri (MS)"/>
              </a:rPr>
              <a:t>, as they do not consider processor load explicitly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991B1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MaxMin </a:t>
            </a:r>
            <a:r>
              <a:rPr lang="en-US" sz="2199">
                <a:solidFill>
                  <a:srgbClr val="991B1B"/>
                </a:solidFill>
                <a:latin typeface="Calibri (MS)"/>
                <a:ea typeface="Calibri (MS)"/>
                <a:cs typeface="Calibri (MS)"/>
                <a:sym typeface="Calibri (MS)"/>
              </a:rPr>
              <a:t>has the </a:t>
            </a:r>
            <a:r>
              <a:rPr lang="en-US" b="true" sz="2199">
                <a:solidFill>
                  <a:srgbClr val="991B1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highest imbalance </a:t>
            </a:r>
            <a:r>
              <a:rPr lang="en-US" sz="2199">
                <a:solidFill>
                  <a:srgbClr val="991B1B"/>
                </a:solidFill>
                <a:latin typeface="Calibri (MS)"/>
                <a:ea typeface="Calibri (MS)"/>
                <a:cs typeface="Calibri (MS)"/>
                <a:sym typeface="Calibri (MS)"/>
              </a:rPr>
              <a:t>(~1.7+), indicating poor distribution of tasks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071683" y="4778460"/>
            <a:ext cx="7704487" cy="3283035"/>
            <a:chOff x="0" y="0"/>
            <a:chExt cx="25863518" cy="11020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9133" y="137831"/>
              <a:ext cx="25825150" cy="10744573"/>
            </a:xfrm>
            <a:custGeom>
              <a:avLst/>
              <a:gdLst/>
              <a:ahLst/>
              <a:cxnLst/>
              <a:rect r="r" b="b" t="t" l="l"/>
              <a:pathLst>
                <a:path h="10744573" w="25825150">
                  <a:moveTo>
                    <a:pt x="0" y="0"/>
                  </a:moveTo>
                  <a:lnTo>
                    <a:pt x="25825150" y="0"/>
                  </a:lnTo>
                  <a:lnTo>
                    <a:pt x="25825150" y="10744573"/>
                  </a:lnTo>
                  <a:lnTo>
                    <a:pt x="0" y="10744573"/>
                  </a:lnTo>
                  <a:close/>
                </a:path>
              </a:pathLst>
            </a:custGeom>
            <a:solidFill>
              <a:srgbClr val="FEF2F2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863417" cy="11020235"/>
            </a:xfrm>
            <a:custGeom>
              <a:avLst/>
              <a:gdLst/>
              <a:ahLst/>
              <a:cxnLst/>
              <a:rect r="r" b="b" t="t" l="l"/>
              <a:pathLst>
                <a:path h="11020235" w="25863417">
                  <a:moveTo>
                    <a:pt x="19133" y="0"/>
                  </a:moveTo>
                  <a:lnTo>
                    <a:pt x="25844283" y="0"/>
                  </a:lnTo>
                  <a:cubicBezTo>
                    <a:pt x="25854930" y="0"/>
                    <a:pt x="25863417" y="62179"/>
                    <a:pt x="25863417" y="137831"/>
                  </a:cubicBezTo>
                  <a:lnTo>
                    <a:pt x="25863417" y="10882404"/>
                  </a:lnTo>
                  <a:cubicBezTo>
                    <a:pt x="25863417" y="10959092"/>
                    <a:pt x="25854786" y="11020235"/>
                    <a:pt x="25844283" y="11020235"/>
                  </a:cubicBezTo>
                  <a:lnTo>
                    <a:pt x="19133" y="11020235"/>
                  </a:lnTo>
                  <a:cubicBezTo>
                    <a:pt x="8488" y="11020235"/>
                    <a:pt x="0" y="10958056"/>
                    <a:pt x="0" y="10882404"/>
                  </a:cubicBezTo>
                  <a:lnTo>
                    <a:pt x="0" y="137831"/>
                  </a:lnTo>
                  <a:cubicBezTo>
                    <a:pt x="0" y="62179"/>
                    <a:pt x="8631" y="0"/>
                    <a:pt x="19133" y="0"/>
                  </a:cubicBezTo>
                  <a:moveTo>
                    <a:pt x="19133" y="276698"/>
                  </a:moveTo>
                  <a:lnTo>
                    <a:pt x="19133" y="137831"/>
                  </a:lnTo>
                  <a:lnTo>
                    <a:pt x="38410" y="137831"/>
                  </a:lnTo>
                  <a:lnTo>
                    <a:pt x="38410" y="10882404"/>
                  </a:lnTo>
                  <a:lnTo>
                    <a:pt x="19133" y="10882404"/>
                  </a:lnTo>
                  <a:lnTo>
                    <a:pt x="19133" y="10744574"/>
                  </a:lnTo>
                  <a:lnTo>
                    <a:pt x="25844283" y="10744574"/>
                  </a:lnTo>
                  <a:lnTo>
                    <a:pt x="25844283" y="10882404"/>
                  </a:lnTo>
                  <a:lnTo>
                    <a:pt x="25825151" y="10882404"/>
                  </a:lnTo>
                  <a:lnTo>
                    <a:pt x="25825151" y="137831"/>
                  </a:lnTo>
                  <a:lnTo>
                    <a:pt x="25844283" y="137831"/>
                  </a:lnTo>
                  <a:lnTo>
                    <a:pt x="25844283" y="276698"/>
                  </a:lnTo>
                  <a:lnTo>
                    <a:pt x="19133" y="276698"/>
                  </a:lnTo>
                  <a:close/>
                </a:path>
              </a:pathLst>
            </a:custGeom>
            <a:solidFill>
              <a:srgbClr val="FCA5A5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161211" y="4834065"/>
            <a:ext cx="7525431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599">
                <a:solidFill>
                  <a:srgbClr val="991B1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this happens?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991B1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LoadAware </a:t>
            </a:r>
            <a:r>
              <a:rPr lang="en-US" sz="2199">
                <a:solidFill>
                  <a:srgbClr val="991B1B"/>
                </a:solidFill>
                <a:latin typeface="Calibri (MS)"/>
                <a:ea typeface="Calibri (MS)"/>
                <a:cs typeface="Calibri (MS)"/>
                <a:sym typeface="Calibri (MS)"/>
              </a:rPr>
              <a:t>assigns tasks based on current processor load, ensuring balanced execution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991B1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RoundRobin </a:t>
            </a:r>
            <a:r>
              <a:rPr lang="en-US" sz="2199">
                <a:solidFill>
                  <a:srgbClr val="991B1B"/>
                </a:solidFill>
                <a:latin typeface="Calibri (MS)"/>
                <a:ea typeface="Calibri (MS)"/>
                <a:cs typeface="Calibri (MS)"/>
                <a:sym typeface="Calibri (MS)"/>
              </a:rPr>
              <a:t>distributes tasks evenly but ignores execution time differences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991B1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MaxMin </a:t>
            </a:r>
            <a:r>
              <a:rPr lang="en-US" sz="2199">
                <a:solidFill>
                  <a:srgbClr val="991B1B"/>
                </a:solidFill>
                <a:latin typeface="Calibri (MS)"/>
                <a:ea typeface="Calibri (MS)"/>
                <a:cs typeface="Calibri (MS)"/>
                <a:sym typeface="Calibri (MS)"/>
              </a:rPr>
              <a:t>prioritizes large tasks → some processors overloaded while others remain idle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991B1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FCFS </a:t>
            </a:r>
            <a:r>
              <a:rPr lang="en-US" sz="2199">
                <a:solidFill>
                  <a:srgbClr val="991B1B"/>
                </a:solidFill>
                <a:latin typeface="Calibri (MS)"/>
                <a:ea typeface="Calibri (MS)"/>
                <a:cs typeface="Calibri (MS)"/>
                <a:sym typeface="Calibri (MS)"/>
              </a:rPr>
              <a:t>and </a:t>
            </a:r>
            <a:r>
              <a:rPr lang="en-US" b="true" sz="2199">
                <a:solidFill>
                  <a:srgbClr val="991B1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MinMin </a:t>
            </a:r>
            <a:r>
              <a:rPr lang="en-US" sz="2199">
                <a:solidFill>
                  <a:srgbClr val="991B1B"/>
                </a:solidFill>
                <a:latin typeface="Calibri (MS)"/>
                <a:ea typeface="Calibri (MS)"/>
                <a:cs typeface="Calibri (MS)"/>
                <a:sym typeface="Calibri (MS)"/>
              </a:rPr>
              <a:t>lack load awareness → uneven workload distribution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0263" y="499367"/>
            <a:ext cx="135131" cy="1397003"/>
            <a:chOff x="0" y="0"/>
            <a:chExt cx="180175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862582"/>
            </a:xfrm>
            <a:custGeom>
              <a:avLst/>
              <a:gdLst/>
              <a:ahLst/>
              <a:cxnLst/>
              <a:rect r="r" b="b" t="t" l="l"/>
              <a:pathLst>
                <a:path h="18625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845691"/>
                  </a:lnTo>
                  <a:cubicBezTo>
                    <a:pt x="180086" y="1855089"/>
                    <a:pt x="172466" y="1862582"/>
                    <a:pt x="163195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63195" y="1828800"/>
                  </a:lnTo>
                  <a:lnTo>
                    <a:pt x="163195" y="1845691"/>
                  </a:lnTo>
                  <a:lnTo>
                    <a:pt x="146304" y="18456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457200"/>
            <a:ext cx="16642080" cy="768096"/>
            <a:chOff x="0" y="0"/>
            <a:chExt cx="22189440" cy="1024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1894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b="true" sz="4000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Master Comparison Table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3856" y="1225296"/>
            <a:ext cx="16642080" cy="512064"/>
            <a:chOff x="0" y="0"/>
            <a:chExt cx="22189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89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Averaged across all 9 configurations (3 task counts × 3 processor counts)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5220">
            <a:off x="810254" y="1915477"/>
            <a:ext cx="16667502" cy="0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548640" y="2048256"/>
          <a:ext cx="17678400" cy="6400800"/>
        </p:xfrm>
        <a:graphic>
          <a:graphicData uri="http://schemas.openxmlformats.org/drawingml/2006/table">
            <a:tbl>
              <a:tblPr/>
              <a:tblGrid>
                <a:gridCol w="2819018"/>
                <a:gridCol w="2729674"/>
                <a:gridCol w="2372345"/>
                <a:gridCol w="2729674"/>
                <a:gridCol w="2640329"/>
                <a:gridCol w="2372345"/>
                <a:gridCol w="2015015"/>
              </a:tblGrid>
              <a:tr h="1066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Algorithm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Avg Makespan ↓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Avg Speedup ↑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AA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Avg Utilization ↑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4BB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Load Imbalance ↓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B3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Throughput ↑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Overall Rank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1066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FCFS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1,503.1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2.32x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60.78%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1.09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0.0665 t/u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3rd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RoundRobin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3DAA6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1,427.9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3DAA6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2.45×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3DAA6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61</a:t>
                      </a:r>
                      <a:r>
                        <a:rPr lang="en-US" b="true" sz="2300">
                          <a:solidFill>
                            <a:srgbClr val="3DAA6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.88%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0.34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3DAA6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0.0700 t/u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2nd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MinMin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1,520.9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2.20×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59.64%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1.07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0.0657 t/u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4th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MaxMin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940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1,725.9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940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2.0</a:t>
                      </a:r>
                      <a:r>
                        <a:rPr lang="en-US" b="true" sz="2300">
                          <a:solidFill>
                            <a:srgbClr val="C940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8×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940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</a:t>
                      </a:r>
                      <a:r>
                        <a:rPr lang="en-US" b="true" sz="2300">
                          <a:solidFill>
                            <a:srgbClr val="C940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5.36%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940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2.23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940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0.0579 t/u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940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5th 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LoadAware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3DAA6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1,420.9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3DAA6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2.48×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61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.81%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3DAA6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0.292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3DAA6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0.0704 t/u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3DAA6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1st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599437" y="8699497"/>
            <a:ext cx="9956797" cy="393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i="true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* Throughput = avg task count / avg makespan (tasks per time unit)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35943" y="9222743"/>
            <a:ext cx="17307563" cy="720347"/>
            <a:chOff x="0" y="0"/>
            <a:chExt cx="23076751" cy="9604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304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23042880">
                  <a:moveTo>
                    <a:pt x="0" y="0"/>
                  </a:moveTo>
                  <a:lnTo>
                    <a:pt x="23042880" y="0"/>
                  </a:lnTo>
                  <a:lnTo>
                    <a:pt x="230428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76663" cy="960376"/>
            </a:xfrm>
            <a:custGeom>
              <a:avLst/>
              <a:gdLst/>
              <a:ahLst/>
              <a:cxnLst/>
              <a:rect r="r" b="b" t="t" l="l"/>
              <a:pathLst>
                <a:path h="960376" w="23076663">
                  <a:moveTo>
                    <a:pt x="16891" y="0"/>
                  </a:moveTo>
                  <a:lnTo>
                    <a:pt x="23059771" y="0"/>
                  </a:lnTo>
                  <a:cubicBezTo>
                    <a:pt x="23069169" y="0"/>
                    <a:pt x="23076663" y="7620"/>
                    <a:pt x="23076663" y="16891"/>
                  </a:cubicBezTo>
                  <a:lnTo>
                    <a:pt x="23076663" y="943483"/>
                  </a:lnTo>
                  <a:cubicBezTo>
                    <a:pt x="23076663" y="952881"/>
                    <a:pt x="23069043" y="960374"/>
                    <a:pt x="230597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59771" y="926592"/>
                  </a:lnTo>
                  <a:lnTo>
                    <a:pt x="23059771" y="943483"/>
                  </a:lnTo>
                  <a:lnTo>
                    <a:pt x="23042880" y="943483"/>
                  </a:lnTo>
                  <a:lnTo>
                    <a:pt x="23042880" y="16891"/>
                  </a:lnTo>
                  <a:lnTo>
                    <a:pt x="23059771" y="16891"/>
                  </a:lnTo>
                  <a:lnTo>
                    <a:pt x="23059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3C5F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5197" y="9293476"/>
            <a:ext cx="1654047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i="true">
                <a:solidFill>
                  <a:srgbClr val="1E40A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LoadAware wins 5 of 5 metrics. RoundRobin is the second best after LoadAware. MaxMin is worst in every single metric.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0263" y="499367"/>
            <a:ext cx="135131" cy="1397003"/>
            <a:chOff x="0" y="0"/>
            <a:chExt cx="180175" cy="186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862582"/>
            </a:xfrm>
            <a:custGeom>
              <a:avLst/>
              <a:gdLst/>
              <a:ahLst/>
              <a:cxnLst/>
              <a:rect r="r" b="b" t="t" l="l"/>
              <a:pathLst>
                <a:path h="18625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845691"/>
                  </a:lnTo>
                  <a:cubicBezTo>
                    <a:pt x="180086" y="1855089"/>
                    <a:pt x="172466" y="1862582"/>
                    <a:pt x="163195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63195" y="1828800"/>
                  </a:lnTo>
                  <a:lnTo>
                    <a:pt x="163195" y="1845691"/>
                  </a:lnTo>
                  <a:lnTo>
                    <a:pt x="146304" y="184569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3856" y="457200"/>
            <a:ext cx="16642080" cy="768096"/>
            <a:chOff x="0" y="0"/>
            <a:chExt cx="22189440" cy="1024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18944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b="true" sz="4000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Findings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3856" y="1225296"/>
            <a:ext cx="16642080" cy="512064"/>
            <a:chOff x="0" y="0"/>
            <a:chExt cx="2218944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89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Data-backed conclusions from experiments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5220">
            <a:off x="810254" y="1915477"/>
            <a:ext cx="16667502" cy="0"/>
          </a:xfrm>
          <a:prstGeom prst="line">
            <a:avLst/>
          </a:prstGeom>
          <a:ln cap="rnd" w="9525">
            <a:solidFill>
              <a:srgbClr val="E8EA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499367" y="1998983"/>
            <a:ext cx="8565899" cy="2695451"/>
            <a:chOff x="0" y="0"/>
            <a:chExt cx="11421199" cy="35939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11387328" cy="3560064"/>
            </a:xfrm>
            <a:custGeom>
              <a:avLst/>
              <a:gdLst/>
              <a:ahLst/>
              <a:cxnLst/>
              <a:rect r="r" b="b" t="t" l="l"/>
              <a:pathLst>
                <a:path h="3560064" w="11387328">
                  <a:moveTo>
                    <a:pt x="0" y="0"/>
                  </a:moveTo>
                  <a:lnTo>
                    <a:pt x="11387328" y="0"/>
                  </a:lnTo>
                  <a:lnTo>
                    <a:pt x="11387328" y="3560064"/>
                  </a:lnTo>
                  <a:lnTo>
                    <a:pt x="0" y="35600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21110" cy="3593846"/>
            </a:xfrm>
            <a:custGeom>
              <a:avLst/>
              <a:gdLst/>
              <a:ahLst/>
              <a:cxnLst/>
              <a:rect r="r" b="b" t="t" l="l"/>
              <a:pathLst>
                <a:path h="3593846" w="11421110">
                  <a:moveTo>
                    <a:pt x="16891" y="0"/>
                  </a:moveTo>
                  <a:lnTo>
                    <a:pt x="11404219" y="0"/>
                  </a:lnTo>
                  <a:cubicBezTo>
                    <a:pt x="11413617" y="0"/>
                    <a:pt x="11421110" y="7620"/>
                    <a:pt x="11421110" y="16891"/>
                  </a:cubicBezTo>
                  <a:lnTo>
                    <a:pt x="11421110" y="3576955"/>
                  </a:lnTo>
                  <a:cubicBezTo>
                    <a:pt x="11421110" y="3586353"/>
                    <a:pt x="11413489" y="3593846"/>
                    <a:pt x="11404219" y="3593846"/>
                  </a:cubicBezTo>
                  <a:lnTo>
                    <a:pt x="16891" y="3593846"/>
                  </a:lnTo>
                  <a:cubicBezTo>
                    <a:pt x="7493" y="3593846"/>
                    <a:pt x="0" y="3586226"/>
                    <a:pt x="0" y="35769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76955"/>
                  </a:lnTo>
                  <a:lnTo>
                    <a:pt x="16891" y="3576955"/>
                  </a:lnTo>
                  <a:lnTo>
                    <a:pt x="16891" y="3560064"/>
                  </a:lnTo>
                  <a:lnTo>
                    <a:pt x="11404219" y="3560064"/>
                  </a:lnTo>
                  <a:lnTo>
                    <a:pt x="11404219" y="3576955"/>
                  </a:lnTo>
                  <a:lnTo>
                    <a:pt x="11387327" y="3576955"/>
                  </a:lnTo>
                  <a:lnTo>
                    <a:pt x="11387327" y="16891"/>
                  </a:lnTo>
                  <a:lnTo>
                    <a:pt x="11404219" y="16891"/>
                  </a:lnTo>
                  <a:lnTo>
                    <a:pt x="114042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99367" y="1998983"/>
            <a:ext cx="135131" cy="2695451"/>
            <a:chOff x="0" y="0"/>
            <a:chExt cx="180175" cy="35939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146304" cy="3560064"/>
            </a:xfrm>
            <a:custGeom>
              <a:avLst/>
              <a:gdLst/>
              <a:ahLst/>
              <a:cxnLst/>
              <a:rect r="r" b="b" t="t" l="l"/>
              <a:pathLst>
                <a:path h="35600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560064"/>
                  </a:lnTo>
                  <a:lnTo>
                    <a:pt x="0" y="3560064"/>
                  </a:lnTo>
                  <a:close/>
                </a:path>
              </a:pathLst>
            </a:custGeom>
            <a:solidFill>
              <a:srgbClr val="3DAA6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0086" cy="3593846"/>
            </a:xfrm>
            <a:custGeom>
              <a:avLst/>
              <a:gdLst/>
              <a:ahLst/>
              <a:cxnLst/>
              <a:rect r="r" b="b" t="t" l="l"/>
              <a:pathLst>
                <a:path h="3593846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576955"/>
                  </a:lnTo>
                  <a:cubicBezTo>
                    <a:pt x="180086" y="3586353"/>
                    <a:pt x="172466" y="3593846"/>
                    <a:pt x="163195" y="3593846"/>
                  </a:cubicBezTo>
                  <a:lnTo>
                    <a:pt x="16891" y="3593846"/>
                  </a:lnTo>
                  <a:cubicBezTo>
                    <a:pt x="7493" y="3593846"/>
                    <a:pt x="0" y="3586226"/>
                    <a:pt x="0" y="35769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76955"/>
                  </a:lnTo>
                  <a:lnTo>
                    <a:pt x="16891" y="3576955"/>
                  </a:lnTo>
                  <a:lnTo>
                    <a:pt x="16891" y="3560064"/>
                  </a:lnTo>
                  <a:lnTo>
                    <a:pt x="163195" y="3560064"/>
                  </a:lnTo>
                  <a:lnTo>
                    <a:pt x="163195" y="3576955"/>
                  </a:lnTo>
                  <a:lnTo>
                    <a:pt x="146304" y="35769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AA6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92045" y="2170681"/>
            <a:ext cx="1727197" cy="37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#01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2045" y="2573017"/>
            <a:ext cx="7762237" cy="44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LoadAware = Best Overall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2045" y="3148708"/>
            <a:ext cx="7908541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Ach</a:t>
            </a: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ieves best performance across all metrics: ~1,420 makespan, ~2.48× speedup, ~61–66% utilization, and lowest imbalance (~0.29). Dynamic load-based scheduling minimizes idle time.</a:t>
            </a: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9405623" y="1998983"/>
            <a:ext cx="8565899" cy="2695451"/>
            <a:chOff x="0" y="0"/>
            <a:chExt cx="11421199" cy="359393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1387328" cy="3560064"/>
            </a:xfrm>
            <a:custGeom>
              <a:avLst/>
              <a:gdLst/>
              <a:ahLst/>
              <a:cxnLst/>
              <a:rect r="r" b="b" t="t" l="l"/>
              <a:pathLst>
                <a:path h="3560064" w="11387328">
                  <a:moveTo>
                    <a:pt x="0" y="0"/>
                  </a:moveTo>
                  <a:lnTo>
                    <a:pt x="11387328" y="0"/>
                  </a:lnTo>
                  <a:lnTo>
                    <a:pt x="11387328" y="3560064"/>
                  </a:lnTo>
                  <a:lnTo>
                    <a:pt x="0" y="35600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21110" cy="3593846"/>
            </a:xfrm>
            <a:custGeom>
              <a:avLst/>
              <a:gdLst/>
              <a:ahLst/>
              <a:cxnLst/>
              <a:rect r="r" b="b" t="t" l="l"/>
              <a:pathLst>
                <a:path h="3593846" w="11421110">
                  <a:moveTo>
                    <a:pt x="16891" y="0"/>
                  </a:moveTo>
                  <a:lnTo>
                    <a:pt x="11404219" y="0"/>
                  </a:lnTo>
                  <a:cubicBezTo>
                    <a:pt x="11413617" y="0"/>
                    <a:pt x="11421110" y="7620"/>
                    <a:pt x="11421110" y="16891"/>
                  </a:cubicBezTo>
                  <a:lnTo>
                    <a:pt x="11421110" y="3576955"/>
                  </a:lnTo>
                  <a:cubicBezTo>
                    <a:pt x="11421110" y="3586353"/>
                    <a:pt x="11413489" y="3593846"/>
                    <a:pt x="11404219" y="3593846"/>
                  </a:cubicBezTo>
                  <a:lnTo>
                    <a:pt x="16891" y="3593846"/>
                  </a:lnTo>
                  <a:cubicBezTo>
                    <a:pt x="7493" y="3593846"/>
                    <a:pt x="0" y="3586226"/>
                    <a:pt x="0" y="35769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76955"/>
                  </a:lnTo>
                  <a:lnTo>
                    <a:pt x="16891" y="3576955"/>
                  </a:lnTo>
                  <a:lnTo>
                    <a:pt x="16891" y="3560064"/>
                  </a:lnTo>
                  <a:lnTo>
                    <a:pt x="11404219" y="3560064"/>
                  </a:lnTo>
                  <a:lnTo>
                    <a:pt x="11404219" y="3576955"/>
                  </a:lnTo>
                  <a:lnTo>
                    <a:pt x="11387327" y="3576955"/>
                  </a:lnTo>
                  <a:lnTo>
                    <a:pt x="11387327" y="16891"/>
                  </a:lnTo>
                  <a:lnTo>
                    <a:pt x="11404219" y="16891"/>
                  </a:lnTo>
                  <a:lnTo>
                    <a:pt x="114042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405623" y="1998983"/>
            <a:ext cx="135131" cy="2695451"/>
            <a:chOff x="0" y="0"/>
            <a:chExt cx="180175" cy="359393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46304" cy="3560064"/>
            </a:xfrm>
            <a:custGeom>
              <a:avLst/>
              <a:gdLst/>
              <a:ahLst/>
              <a:cxnLst/>
              <a:rect r="r" b="b" t="t" l="l"/>
              <a:pathLst>
                <a:path h="35600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560064"/>
                  </a:lnTo>
                  <a:lnTo>
                    <a:pt x="0" y="3560064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0086" cy="3593846"/>
            </a:xfrm>
            <a:custGeom>
              <a:avLst/>
              <a:gdLst/>
              <a:ahLst/>
              <a:cxnLst/>
              <a:rect r="r" b="b" t="t" l="l"/>
              <a:pathLst>
                <a:path h="3593846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576955"/>
                  </a:lnTo>
                  <a:cubicBezTo>
                    <a:pt x="180086" y="3586353"/>
                    <a:pt x="172466" y="3593846"/>
                    <a:pt x="163195" y="3593846"/>
                  </a:cubicBezTo>
                  <a:lnTo>
                    <a:pt x="16891" y="3593846"/>
                  </a:lnTo>
                  <a:cubicBezTo>
                    <a:pt x="7493" y="3593846"/>
                    <a:pt x="0" y="3586226"/>
                    <a:pt x="0" y="35769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76955"/>
                  </a:lnTo>
                  <a:lnTo>
                    <a:pt x="16891" y="3576955"/>
                  </a:lnTo>
                  <a:lnTo>
                    <a:pt x="16891" y="3560064"/>
                  </a:lnTo>
                  <a:lnTo>
                    <a:pt x="163195" y="3560064"/>
                  </a:lnTo>
                  <a:lnTo>
                    <a:pt x="163195" y="3576955"/>
                  </a:lnTo>
                  <a:lnTo>
                    <a:pt x="146304" y="35769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8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798301" y="2170681"/>
            <a:ext cx="1727197" cy="37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#02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98301" y="2573017"/>
            <a:ext cx="7762237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</a:t>
            </a:r>
            <a:r>
              <a:rPr lang="en-US" b="true" sz="2400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oadAware = Best Utilization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9798301" y="3148708"/>
            <a:ext cx="7908541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Hi</a:t>
            </a: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ghest utilization achieved due to balanced processor workload. Ensures minimal idle time compared to other algorithms.</a:t>
            </a: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499367" y="4888487"/>
            <a:ext cx="8565899" cy="2695451"/>
            <a:chOff x="0" y="0"/>
            <a:chExt cx="11421199" cy="359393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11387328" cy="3560064"/>
            </a:xfrm>
            <a:custGeom>
              <a:avLst/>
              <a:gdLst/>
              <a:ahLst/>
              <a:cxnLst/>
              <a:rect r="r" b="b" t="t" l="l"/>
              <a:pathLst>
                <a:path h="3560064" w="11387328">
                  <a:moveTo>
                    <a:pt x="0" y="0"/>
                  </a:moveTo>
                  <a:lnTo>
                    <a:pt x="11387328" y="0"/>
                  </a:lnTo>
                  <a:lnTo>
                    <a:pt x="11387328" y="3560064"/>
                  </a:lnTo>
                  <a:lnTo>
                    <a:pt x="0" y="35600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421110" cy="3593846"/>
            </a:xfrm>
            <a:custGeom>
              <a:avLst/>
              <a:gdLst/>
              <a:ahLst/>
              <a:cxnLst/>
              <a:rect r="r" b="b" t="t" l="l"/>
              <a:pathLst>
                <a:path h="3593846" w="11421110">
                  <a:moveTo>
                    <a:pt x="16891" y="0"/>
                  </a:moveTo>
                  <a:lnTo>
                    <a:pt x="11404219" y="0"/>
                  </a:lnTo>
                  <a:cubicBezTo>
                    <a:pt x="11413617" y="0"/>
                    <a:pt x="11421110" y="7620"/>
                    <a:pt x="11421110" y="16891"/>
                  </a:cubicBezTo>
                  <a:lnTo>
                    <a:pt x="11421110" y="3576955"/>
                  </a:lnTo>
                  <a:cubicBezTo>
                    <a:pt x="11421110" y="3586353"/>
                    <a:pt x="11413489" y="3593846"/>
                    <a:pt x="11404219" y="3593846"/>
                  </a:cubicBezTo>
                  <a:lnTo>
                    <a:pt x="16891" y="3593846"/>
                  </a:lnTo>
                  <a:cubicBezTo>
                    <a:pt x="7493" y="3593846"/>
                    <a:pt x="0" y="3586226"/>
                    <a:pt x="0" y="35769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76955"/>
                  </a:lnTo>
                  <a:lnTo>
                    <a:pt x="16891" y="3576955"/>
                  </a:lnTo>
                  <a:lnTo>
                    <a:pt x="16891" y="3560064"/>
                  </a:lnTo>
                  <a:lnTo>
                    <a:pt x="11404219" y="3560064"/>
                  </a:lnTo>
                  <a:lnTo>
                    <a:pt x="11404219" y="3576955"/>
                  </a:lnTo>
                  <a:lnTo>
                    <a:pt x="11387327" y="3576955"/>
                  </a:lnTo>
                  <a:lnTo>
                    <a:pt x="11387327" y="16891"/>
                  </a:lnTo>
                  <a:lnTo>
                    <a:pt x="11404219" y="16891"/>
                  </a:lnTo>
                  <a:lnTo>
                    <a:pt x="114042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99367" y="4888487"/>
            <a:ext cx="135131" cy="2695451"/>
            <a:chOff x="0" y="0"/>
            <a:chExt cx="180175" cy="359393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146304" cy="3560064"/>
            </a:xfrm>
            <a:custGeom>
              <a:avLst/>
              <a:gdLst/>
              <a:ahLst/>
              <a:cxnLst/>
              <a:rect r="r" b="b" t="t" l="l"/>
              <a:pathLst>
                <a:path h="35600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560064"/>
                  </a:lnTo>
                  <a:lnTo>
                    <a:pt x="0" y="3560064"/>
                  </a:lnTo>
                  <a:close/>
                </a:path>
              </a:pathLst>
            </a:custGeom>
            <a:solidFill>
              <a:srgbClr val="C9404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0086" cy="3593846"/>
            </a:xfrm>
            <a:custGeom>
              <a:avLst/>
              <a:gdLst/>
              <a:ahLst/>
              <a:cxnLst/>
              <a:rect r="r" b="b" t="t" l="l"/>
              <a:pathLst>
                <a:path h="3593846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576955"/>
                  </a:lnTo>
                  <a:cubicBezTo>
                    <a:pt x="180086" y="3586353"/>
                    <a:pt x="172466" y="3593846"/>
                    <a:pt x="163195" y="3593846"/>
                  </a:cubicBezTo>
                  <a:lnTo>
                    <a:pt x="16891" y="3593846"/>
                  </a:lnTo>
                  <a:cubicBezTo>
                    <a:pt x="7493" y="3593846"/>
                    <a:pt x="0" y="3586226"/>
                    <a:pt x="0" y="35769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76955"/>
                  </a:lnTo>
                  <a:lnTo>
                    <a:pt x="16891" y="3576955"/>
                  </a:lnTo>
                  <a:lnTo>
                    <a:pt x="16891" y="3560064"/>
                  </a:lnTo>
                  <a:lnTo>
                    <a:pt x="163195" y="3560064"/>
                  </a:lnTo>
                  <a:lnTo>
                    <a:pt x="163195" y="3576955"/>
                  </a:lnTo>
                  <a:lnTo>
                    <a:pt x="146304" y="35769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94040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892045" y="5060185"/>
            <a:ext cx="1727197" cy="37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#03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92045" y="5462521"/>
            <a:ext cx="7762237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MaxMin = Worst Performer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892045" y="6038212"/>
            <a:ext cx="7908541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Hi</a:t>
            </a: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gh imbalance (~2.2+) and lowest utilization (~55%) due to long-task prioritization causing processor bottlenecks.</a:t>
            </a: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39" id="39"/>
          <p:cNvGrpSpPr/>
          <p:nvPr/>
        </p:nvGrpSpPr>
        <p:grpSpPr>
          <a:xfrm rot="0">
            <a:off x="9405623" y="4888487"/>
            <a:ext cx="8565899" cy="2695451"/>
            <a:chOff x="0" y="0"/>
            <a:chExt cx="11421199" cy="359393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11387328" cy="3560064"/>
            </a:xfrm>
            <a:custGeom>
              <a:avLst/>
              <a:gdLst/>
              <a:ahLst/>
              <a:cxnLst/>
              <a:rect r="r" b="b" t="t" l="l"/>
              <a:pathLst>
                <a:path h="3560064" w="11387328">
                  <a:moveTo>
                    <a:pt x="0" y="0"/>
                  </a:moveTo>
                  <a:lnTo>
                    <a:pt x="11387328" y="0"/>
                  </a:lnTo>
                  <a:lnTo>
                    <a:pt x="11387328" y="3560064"/>
                  </a:lnTo>
                  <a:lnTo>
                    <a:pt x="0" y="35600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421110" cy="3593846"/>
            </a:xfrm>
            <a:custGeom>
              <a:avLst/>
              <a:gdLst/>
              <a:ahLst/>
              <a:cxnLst/>
              <a:rect r="r" b="b" t="t" l="l"/>
              <a:pathLst>
                <a:path h="3593846" w="11421110">
                  <a:moveTo>
                    <a:pt x="16891" y="0"/>
                  </a:moveTo>
                  <a:lnTo>
                    <a:pt x="11404219" y="0"/>
                  </a:lnTo>
                  <a:cubicBezTo>
                    <a:pt x="11413617" y="0"/>
                    <a:pt x="11421110" y="7620"/>
                    <a:pt x="11421110" y="16891"/>
                  </a:cubicBezTo>
                  <a:lnTo>
                    <a:pt x="11421110" y="3576955"/>
                  </a:lnTo>
                  <a:cubicBezTo>
                    <a:pt x="11421110" y="3586353"/>
                    <a:pt x="11413489" y="3593846"/>
                    <a:pt x="11404219" y="3593846"/>
                  </a:cubicBezTo>
                  <a:lnTo>
                    <a:pt x="16891" y="3593846"/>
                  </a:lnTo>
                  <a:cubicBezTo>
                    <a:pt x="7493" y="3593846"/>
                    <a:pt x="0" y="3586226"/>
                    <a:pt x="0" y="35769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76955"/>
                  </a:lnTo>
                  <a:lnTo>
                    <a:pt x="16891" y="3576955"/>
                  </a:lnTo>
                  <a:lnTo>
                    <a:pt x="16891" y="3560064"/>
                  </a:lnTo>
                  <a:lnTo>
                    <a:pt x="11404219" y="3560064"/>
                  </a:lnTo>
                  <a:lnTo>
                    <a:pt x="11404219" y="3576955"/>
                  </a:lnTo>
                  <a:lnTo>
                    <a:pt x="11387327" y="3576955"/>
                  </a:lnTo>
                  <a:lnTo>
                    <a:pt x="11387327" y="16891"/>
                  </a:lnTo>
                  <a:lnTo>
                    <a:pt x="11404219" y="16891"/>
                  </a:lnTo>
                  <a:lnTo>
                    <a:pt x="114042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405623" y="4888487"/>
            <a:ext cx="135131" cy="2695451"/>
            <a:chOff x="0" y="0"/>
            <a:chExt cx="180175" cy="359393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146304" cy="3560064"/>
            </a:xfrm>
            <a:custGeom>
              <a:avLst/>
              <a:gdLst/>
              <a:ahLst/>
              <a:cxnLst/>
              <a:rect r="r" b="b" t="t" l="l"/>
              <a:pathLst>
                <a:path h="35600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560064"/>
                  </a:lnTo>
                  <a:lnTo>
                    <a:pt x="0" y="3560064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0086" cy="3593846"/>
            </a:xfrm>
            <a:custGeom>
              <a:avLst/>
              <a:gdLst/>
              <a:ahLst/>
              <a:cxnLst/>
              <a:rect r="r" b="b" t="t" l="l"/>
              <a:pathLst>
                <a:path h="3593846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576955"/>
                  </a:lnTo>
                  <a:cubicBezTo>
                    <a:pt x="180086" y="3586353"/>
                    <a:pt x="172466" y="3593846"/>
                    <a:pt x="163195" y="3593846"/>
                  </a:cubicBezTo>
                  <a:lnTo>
                    <a:pt x="16891" y="3593846"/>
                  </a:lnTo>
                  <a:cubicBezTo>
                    <a:pt x="7493" y="3593846"/>
                    <a:pt x="0" y="3586226"/>
                    <a:pt x="0" y="35769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76955"/>
                  </a:lnTo>
                  <a:lnTo>
                    <a:pt x="16891" y="3576955"/>
                  </a:lnTo>
                  <a:lnTo>
                    <a:pt x="16891" y="3560064"/>
                  </a:lnTo>
                  <a:lnTo>
                    <a:pt x="163195" y="3560064"/>
                  </a:lnTo>
                  <a:lnTo>
                    <a:pt x="163195" y="3576955"/>
                  </a:lnTo>
                  <a:lnTo>
                    <a:pt x="146304" y="35769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9798301" y="5060185"/>
            <a:ext cx="1727197" cy="37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#04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798301" y="5462521"/>
            <a:ext cx="7762237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Dependenc</a:t>
            </a:r>
            <a:r>
              <a:rPr lang="en-US" b="true" sz="2400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ies Limit Parallelism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9798301" y="6038212"/>
            <a:ext cx="7908541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Task dependencies restrict simultaneous execution, leading to processor idle time and reduced efficiency.</a:t>
            </a: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48" id="48"/>
          <p:cNvGrpSpPr/>
          <p:nvPr/>
        </p:nvGrpSpPr>
        <p:grpSpPr>
          <a:xfrm rot="0">
            <a:off x="499367" y="7777991"/>
            <a:ext cx="8565899" cy="2695451"/>
            <a:chOff x="0" y="0"/>
            <a:chExt cx="11421199" cy="359393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11387328" cy="3560064"/>
            </a:xfrm>
            <a:custGeom>
              <a:avLst/>
              <a:gdLst/>
              <a:ahLst/>
              <a:cxnLst/>
              <a:rect r="r" b="b" t="t" l="l"/>
              <a:pathLst>
                <a:path h="3560064" w="11387328">
                  <a:moveTo>
                    <a:pt x="0" y="0"/>
                  </a:moveTo>
                  <a:lnTo>
                    <a:pt x="11387328" y="0"/>
                  </a:lnTo>
                  <a:lnTo>
                    <a:pt x="11387328" y="3560064"/>
                  </a:lnTo>
                  <a:lnTo>
                    <a:pt x="0" y="35600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421110" cy="3593846"/>
            </a:xfrm>
            <a:custGeom>
              <a:avLst/>
              <a:gdLst/>
              <a:ahLst/>
              <a:cxnLst/>
              <a:rect r="r" b="b" t="t" l="l"/>
              <a:pathLst>
                <a:path h="3593846" w="11421110">
                  <a:moveTo>
                    <a:pt x="16891" y="0"/>
                  </a:moveTo>
                  <a:lnTo>
                    <a:pt x="11404219" y="0"/>
                  </a:lnTo>
                  <a:cubicBezTo>
                    <a:pt x="11413617" y="0"/>
                    <a:pt x="11421110" y="7620"/>
                    <a:pt x="11421110" y="16891"/>
                  </a:cubicBezTo>
                  <a:lnTo>
                    <a:pt x="11421110" y="3576955"/>
                  </a:lnTo>
                  <a:cubicBezTo>
                    <a:pt x="11421110" y="3586353"/>
                    <a:pt x="11413489" y="3593846"/>
                    <a:pt x="11404219" y="3593846"/>
                  </a:cubicBezTo>
                  <a:lnTo>
                    <a:pt x="16891" y="3593846"/>
                  </a:lnTo>
                  <a:cubicBezTo>
                    <a:pt x="7493" y="3593846"/>
                    <a:pt x="0" y="3586226"/>
                    <a:pt x="0" y="35769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76955"/>
                  </a:lnTo>
                  <a:lnTo>
                    <a:pt x="16891" y="3576955"/>
                  </a:lnTo>
                  <a:lnTo>
                    <a:pt x="16891" y="3560064"/>
                  </a:lnTo>
                  <a:lnTo>
                    <a:pt x="11404219" y="3560064"/>
                  </a:lnTo>
                  <a:lnTo>
                    <a:pt x="11404219" y="3576955"/>
                  </a:lnTo>
                  <a:lnTo>
                    <a:pt x="11387327" y="3576955"/>
                  </a:lnTo>
                  <a:lnTo>
                    <a:pt x="11387327" y="16891"/>
                  </a:lnTo>
                  <a:lnTo>
                    <a:pt x="11404219" y="16891"/>
                  </a:lnTo>
                  <a:lnTo>
                    <a:pt x="114042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499367" y="7777991"/>
            <a:ext cx="135131" cy="2695451"/>
            <a:chOff x="0" y="0"/>
            <a:chExt cx="180175" cy="359393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146304" cy="3560064"/>
            </a:xfrm>
            <a:custGeom>
              <a:avLst/>
              <a:gdLst/>
              <a:ahLst/>
              <a:cxnLst/>
              <a:rect r="r" b="b" t="t" l="l"/>
              <a:pathLst>
                <a:path h="35600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560064"/>
                  </a:lnTo>
                  <a:lnTo>
                    <a:pt x="0" y="3560064"/>
                  </a:lnTo>
                  <a:close/>
                </a:path>
              </a:pathLst>
            </a:custGeom>
            <a:solidFill>
              <a:srgbClr val="6A4BB5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0086" cy="3593846"/>
            </a:xfrm>
            <a:custGeom>
              <a:avLst/>
              <a:gdLst/>
              <a:ahLst/>
              <a:cxnLst/>
              <a:rect r="r" b="b" t="t" l="l"/>
              <a:pathLst>
                <a:path h="3593846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576955"/>
                  </a:lnTo>
                  <a:cubicBezTo>
                    <a:pt x="180086" y="3586353"/>
                    <a:pt x="172466" y="3593846"/>
                    <a:pt x="163195" y="3593846"/>
                  </a:cubicBezTo>
                  <a:lnTo>
                    <a:pt x="16891" y="3593846"/>
                  </a:lnTo>
                  <a:cubicBezTo>
                    <a:pt x="7493" y="3593846"/>
                    <a:pt x="0" y="3586226"/>
                    <a:pt x="0" y="35769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76955"/>
                  </a:lnTo>
                  <a:lnTo>
                    <a:pt x="16891" y="3576955"/>
                  </a:lnTo>
                  <a:lnTo>
                    <a:pt x="16891" y="3560064"/>
                  </a:lnTo>
                  <a:lnTo>
                    <a:pt x="163195" y="3560064"/>
                  </a:lnTo>
                  <a:lnTo>
                    <a:pt x="163195" y="3576955"/>
                  </a:lnTo>
                  <a:lnTo>
                    <a:pt x="146304" y="35769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4BB5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892045" y="7949689"/>
            <a:ext cx="1727197" cy="37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#05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92045" y="8352025"/>
            <a:ext cx="7762237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Diminishing Returns with More Processors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892045" y="8927716"/>
            <a:ext cx="7908541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peedup gains reduce as processors increase (Amdahl’s Law), due to sequential components and scheduling overhead.</a:t>
            </a: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57" id="57"/>
          <p:cNvGrpSpPr/>
          <p:nvPr/>
        </p:nvGrpSpPr>
        <p:grpSpPr>
          <a:xfrm rot="0">
            <a:off x="9405623" y="7777991"/>
            <a:ext cx="8565899" cy="2695451"/>
            <a:chOff x="0" y="0"/>
            <a:chExt cx="11421199" cy="359393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11387328" cy="3560064"/>
            </a:xfrm>
            <a:custGeom>
              <a:avLst/>
              <a:gdLst/>
              <a:ahLst/>
              <a:cxnLst/>
              <a:rect r="r" b="b" t="t" l="l"/>
              <a:pathLst>
                <a:path h="3560064" w="11387328">
                  <a:moveTo>
                    <a:pt x="0" y="0"/>
                  </a:moveTo>
                  <a:lnTo>
                    <a:pt x="11387328" y="0"/>
                  </a:lnTo>
                  <a:lnTo>
                    <a:pt x="11387328" y="3560064"/>
                  </a:lnTo>
                  <a:lnTo>
                    <a:pt x="0" y="35600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421110" cy="3593846"/>
            </a:xfrm>
            <a:custGeom>
              <a:avLst/>
              <a:gdLst/>
              <a:ahLst/>
              <a:cxnLst/>
              <a:rect r="r" b="b" t="t" l="l"/>
              <a:pathLst>
                <a:path h="3593846" w="11421110">
                  <a:moveTo>
                    <a:pt x="16891" y="0"/>
                  </a:moveTo>
                  <a:lnTo>
                    <a:pt x="11404219" y="0"/>
                  </a:lnTo>
                  <a:cubicBezTo>
                    <a:pt x="11413617" y="0"/>
                    <a:pt x="11421110" y="7620"/>
                    <a:pt x="11421110" y="16891"/>
                  </a:cubicBezTo>
                  <a:lnTo>
                    <a:pt x="11421110" y="3576955"/>
                  </a:lnTo>
                  <a:cubicBezTo>
                    <a:pt x="11421110" y="3586353"/>
                    <a:pt x="11413489" y="3593846"/>
                    <a:pt x="11404219" y="3593846"/>
                  </a:cubicBezTo>
                  <a:lnTo>
                    <a:pt x="16891" y="3593846"/>
                  </a:lnTo>
                  <a:cubicBezTo>
                    <a:pt x="7493" y="3593846"/>
                    <a:pt x="0" y="3586226"/>
                    <a:pt x="0" y="35769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76955"/>
                  </a:lnTo>
                  <a:lnTo>
                    <a:pt x="16891" y="3576955"/>
                  </a:lnTo>
                  <a:lnTo>
                    <a:pt x="16891" y="3560064"/>
                  </a:lnTo>
                  <a:lnTo>
                    <a:pt x="11404219" y="3560064"/>
                  </a:lnTo>
                  <a:lnTo>
                    <a:pt x="11404219" y="3576955"/>
                  </a:lnTo>
                  <a:lnTo>
                    <a:pt x="11387327" y="3576955"/>
                  </a:lnTo>
                  <a:lnTo>
                    <a:pt x="11387327" y="16891"/>
                  </a:lnTo>
                  <a:lnTo>
                    <a:pt x="11404219" y="16891"/>
                  </a:lnTo>
                  <a:lnTo>
                    <a:pt x="114042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AED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405623" y="7777991"/>
            <a:ext cx="135131" cy="2695451"/>
            <a:chOff x="0" y="0"/>
            <a:chExt cx="180175" cy="359393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146304" cy="3560064"/>
            </a:xfrm>
            <a:custGeom>
              <a:avLst/>
              <a:gdLst/>
              <a:ahLst/>
              <a:cxnLst/>
              <a:rect r="r" b="b" t="t" l="l"/>
              <a:pathLst>
                <a:path h="35600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560064"/>
                  </a:lnTo>
                  <a:lnTo>
                    <a:pt x="0" y="3560064"/>
                  </a:ln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0086" cy="3593846"/>
            </a:xfrm>
            <a:custGeom>
              <a:avLst/>
              <a:gdLst/>
              <a:ahLst/>
              <a:cxnLst/>
              <a:rect r="r" b="b" t="t" l="l"/>
              <a:pathLst>
                <a:path h="3593846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576955"/>
                  </a:lnTo>
                  <a:cubicBezTo>
                    <a:pt x="180086" y="3586353"/>
                    <a:pt x="172466" y="3593846"/>
                    <a:pt x="163195" y="3593846"/>
                  </a:cubicBezTo>
                  <a:lnTo>
                    <a:pt x="16891" y="3593846"/>
                  </a:lnTo>
                  <a:cubicBezTo>
                    <a:pt x="7493" y="3593846"/>
                    <a:pt x="0" y="3586226"/>
                    <a:pt x="0" y="35769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76955"/>
                  </a:lnTo>
                  <a:lnTo>
                    <a:pt x="16891" y="3576955"/>
                  </a:lnTo>
                  <a:lnTo>
                    <a:pt x="16891" y="3560064"/>
                  </a:lnTo>
                  <a:lnTo>
                    <a:pt x="163195" y="3560064"/>
                  </a:lnTo>
                  <a:lnTo>
                    <a:pt x="163195" y="3576955"/>
                  </a:lnTo>
                  <a:lnTo>
                    <a:pt x="146304" y="35769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7280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9798301" y="7949689"/>
            <a:ext cx="1727197" cy="37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6B72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#06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798301" y="8352025"/>
            <a:ext cx="7762237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Synchronization Overhead Exists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9798301" y="8927716"/>
            <a:ext cx="7908541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Pa</a:t>
            </a:r>
            <a:r>
              <a:rPr lang="en-US" sz="21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rallel execution requires coordination, which can introduce minor overhead and limit scalability.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2C5F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640080"/>
            <a:ext cx="16642080" cy="1097280"/>
            <a:chOff x="0" y="0"/>
            <a:chExt cx="2218944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21894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b="true" sz="6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Conclusions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5280">
            <a:off x="901694" y="1824038"/>
            <a:ext cx="16484622" cy="0"/>
          </a:xfrm>
          <a:prstGeom prst="line">
            <a:avLst/>
          </a:prstGeom>
          <a:ln cap="rnd" w="9525">
            <a:solidFill>
              <a:srgbClr val="33335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27383" y="2035559"/>
            <a:ext cx="5639819" cy="7742939"/>
            <a:chOff x="0" y="0"/>
            <a:chExt cx="7519759" cy="103239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7485888" cy="10290048"/>
            </a:xfrm>
            <a:custGeom>
              <a:avLst/>
              <a:gdLst/>
              <a:ahLst/>
              <a:cxnLst/>
              <a:rect r="r" b="b" t="t" l="l"/>
              <a:pathLst>
                <a:path h="1029004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10290048"/>
                  </a:lnTo>
                  <a:lnTo>
                    <a:pt x="0" y="10290048"/>
                  </a:lnTo>
                  <a:close/>
                </a:path>
              </a:pathLst>
            </a:custGeom>
            <a:solidFill>
              <a:srgbClr val="12122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19670" cy="10323830"/>
            </a:xfrm>
            <a:custGeom>
              <a:avLst/>
              <a:gdLst/>
              <a:ahLst/>
              <a:cxnLst/>
              <a:rect r="r" b="b" t="t" l="l"/>
              <a:pathLst>
                <a:path h="10323830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10306939"/>
                  </a:lnTo>
                  <a:cubicBezTo>
                    <a:pt x="7519670" y="10316337"/>
                    <a:pt x="7512050" y="10323830"/>
                    <a:pt x="7502779" y="10323830"/>
                  </a:cubicBezTo>
                  <a:lnTo>
                    <a:pt x="16891" y="10323830"/>
                  </a:lnTo>
                  <a:cubicBezTo>
                    <a:pt x="7493" y="10323830"/>
                    <a:pt x="0" y="10316210"/>
                    <a:pt x="0" y="103069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306939"/>
                  </a:lnTo>
                  <a:lnTo>
                    <a:pt x="16891" y="10306939"/>
                  </a:lnTo>
                  <a:lnTo>
                    <a:pt x="16891" y="10290048"/>
                  </a:lnTo>
                  <a:lnTo>
                    <a:pt x="7502779" y="10290048"/>
                  </a:lnTo>
                  <a:lnTo>
                    <a:pt x="7502779" y="10306939"/>
                  </a:lnTo>
                  <a:lnTo>
                    <a:pt x="7485888" y="10306939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27383" y="2035559"/>
            <a:ext cx="5639819" cy="98555"/>
            <a:chOff x="0" y="0"/>
            <a:chExt cx="7519759" cy="1314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7485888" cy="97536"/>
            </a:xfrm>
            <a:custGeom>
              <a:avLst/>
              <a:gdLst/>
              <a:ahLst/>
              <a:cxnLst/>
              <a:rect r="r" b="b" t="t" l="l"/>
              <a:pathLst>
                <a:path h="97536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3DAA6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19670" cy="131320"/>
            </a:xfrm>
            <a:custGeom>
              <a:avLst/>
              <a:gdLst/>
              <a:ahLst/>
              <a:cxnLst/>
              <a:rect r="r" b="b" t="t" l="l"/>
              <a:pathLst>
                <a:path h="131320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114427"/>
                  </a:lnTo>
                  <a:cubicBezTo>
                    <a:pt x="7519670" y="123825"/>
                    <a:pt x="7512050" y="131318"/>
                    <a:pt x="7502779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7502779" y="97536"/>
                  </a:lnTo>
                  <a:lnTo>
                    <a:pt x="7502779" y="114427"/>
                  </a:lnTo>
                  <a:lnTo>
                    <a:pt x="7485888" y="114427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AA6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46909" y="2243833"/>
            <a:ext cx="5055613" cy="4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3DAA6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We Proved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83415" y="3059687"/>
            <a:ext cx="189995" cy="189995"/>
            <a:chOff x="0" y="0"/>
            <a:chExt cx="253327" cy="2533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DAA6E">
                <a:alpha val="35686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DAA6E">
                <a:alpha val="35686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9517" y="2929252"/>
            <a:ext cx="5114677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LoadAware achieves the best overall performance, with lowest makespan, highest speedup, highest utilization, and minimal load imbalance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83415" y="4401826"/>
            <a:ext cx="189995" cy="189995"/>
            <a:chOff x="0" y="0"/>
            <a:chExt cx="253327" cy="2533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DAA6E">
                <a:alpha val="35686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DAA6E">
                <a:alpha val="35686"/>
              </a:srgbClr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39517" y="4259204"/>
            <a:ext cx="478129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RoundRobin performs consistently well, but lacks load-awareness optimization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83415" y="5363975"/>
            <a:ext cx="189995" cy="189995"/>
            <a:chOff x="0" y="0"/>
            <a:chExt cx="253327" cy="2533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DAA6E">
                <a:alpha val="35686"/>
              </a:srgbClr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DAA6E">
                <a:alpha val="35686"/>
              </a:srgbClr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39517" y="5233540"/>
            <a:ext cx="478129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MaxMin performs worst across all metrics, due to long-task prioritization causing severe imbalance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83415" y="6516119"/>
            <a:ext cx="189995" cy="189995"/>
            <a:chOff x="0" y="0"/>
            <a:chExt cx="253327" cy="25332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DAA6E">
                <a:alpha val="35686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DAA6E">
                <a:alpha val="35686"/>
              </a:srgbClr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39517" y="6385684"/>
            <a:ext cx="478129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Increas</a:t>
            </a: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ing processors improves speedup, but gains diminish due to inherent sequential components (Amdahl’s Law)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83415" y="7668263"/>
            <a:ext cx="189995" cy="189995"/>
            <a:chOff x="0" y="0"/>
            <a:chExt cx="253327" cy="25332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DAA6E">
                <a:alpha val="35686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DAA6E">
                <a:alpha val="35686"/>
              </a:srgbClr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239517" y="7537828"/>
            <a:ext cx="478129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ask dependencies limit parallelism, leading to processor idle time and reduced utilization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516119" y="2035559"/>
            <a:ext cx="5639819" cy="7742939"/>
            <a:chOff x="0" y="0"/>
            <a:chExt cx="7519759" cy="1032391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7485888" cy="10290048"/>
            </a:xfrm>
            <a:custGeom>
              <a:avLst/>
              <a:gdLst/>
              <a:ahLst/>
              <a:cxnLst/>
              <a:rect r="r" b="b" t="t" l="l"/>
              <a:pathLst>
                <a:path h="1029004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10290048"/>
                  </a:lnTo>
                  <a:lnTo>
                    <a:pt x="0" y="10290048"/>
                  </a:lnTo>
                  <a:close/>
                </a:path>
              </a:pathLst>
            </a:custGeom>
            <a:solidFill>
              <a:srgbClr val="12122A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519670" cy="10323830"/>
            </a:xfrm>
            <a:custGeom>
              <a:avLst/>
              <a:gdLst/>
              <a:ahLst/>
              <a:cxnLst/>
              <a:rect r="r" b="b" t="t" l="l"/>
              <a:pathLst>
                <a:path h="10323830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10306939"/>
                  </a:lnTo>
                  <a:cubicBezTo>
                    <a:pt x="7519670" y="10316337"/>
                    <a:pt x="7512050" y="10323830"/>
                    <a:pt x="7502779" y="10323830"/>
                  </a:cubicBezTo>
                  <a:lnTo>
                    <a:pt x="16891" y="10323830"/>
                  </a:lnTo>
                  <a:cubicBezTo>
                    <a:pt x="7493" y="10323830"/>
                    <a:pt x="0" y="10316210"/>
                    <a:pt x="0" y="103069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306939"/>
                  </a:lnTo>
                  <a:lnTo>
                    <a:pt x="16891" y="10306939"/>
                  </a:lnTo>
                  <a:lnTo>
                    <a:pt x="16891" y="10290048"/>
                  </a:lnTo>
                  <a:lnTo>
                    <a:pt x="7502779" y="10290048"/>
                  </a:lnTo>
                  <a:lnTo>
                    <a:pt x="7502779" y="10306939"/>
                  </a:lnTo>
                  <a:lnTo>
                    <a:pt x="7485888" y="10306939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4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516119" y="2035559"/>
            <a:ext cx="5639819" cy="98555"/>
            <a:chOff x="0" y="0"/>
            <a:chExt cx="7519759" cy="13140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7485888" cy="97536"/>
            </a:xfrm>
            <a:custGeom>
              <a:avLst/>
              <a:gdLst/>
              <a:ahLst/>
              <a:cxnLst/>
              <a:rect r="r" b="b" t="t" l="l"/>
              <a:pathLst>
                <a:path h="97536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19670" cy="131320"/>
            </a:xfrm>
            <a:custGeom>
              <a:avLst/>
              <a:gdLst/>
              <a:ahLst/>
              <a:cxnLst/>
              <a:rect r="r" b="b" t="t" l="l"/>
              <a:pathLst>
                <a:path h="131320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114427"/>
                  </a:lnTo>
                  <a:cubicBezTo>
                    <a:pt x="7519670" y="123825"/>
                    <a:pt x="7512050" y="131318"/>
                    <a:pt x="7502779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7502779" y="97536"/>
                  </a:lnTo>
                  <a:lnTo>
                    <a:pt x="7502779" y="114427"/>
                  </a:lnTo>
                  <a:lnTo>
                    <a:pt x="7485888" y="114427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6835645" y="2243833"/>
            <a:ext cx="5055613" cy="4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E07B3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Limitations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772151" y="3059687"/>
            <a:ext cx="189995" cy="189995"/>
            <a:chOff x="0" y="0"/>
            <a:chExt cx="253327" cy="25332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07B39">
                <a:alpha val="35686"/>
              </a:srgbClr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E07B39">
                <a:alpha val="35686"/>
              </a:srgbClr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7128253" y="2929252"/>
            <a:ext cx="478129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ynthetic task generation may not reflect real-world workload characteristics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772151" y="4211831"/>
            <a:ext cx="189995" cy="189995"/>
            <a:chOff x="0" y="0"/>
            <a:chExt cx="253327" cy="25332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07B39">
                <a:alpha val="35686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E07B39">
                <a:alpha val="35686"/>
              </a:srgbClr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7128253" y="4081396"/>
            <a:ext cx="478129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C</a:t>
            </a: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entralized scheduling approach introduces coordination overhead and limits scalability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6772151" y="5363975"/>
            <a:ext cx="189995" cy="189995"/>
            <a:chOff x="0" y="0"/>
            <a:chExt cx="253327" cy="25332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07B39">
                <a:alpha val="35686"/>
              </a:srgbClr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E07B39">
                <a:alpha val="35686"/>
              </a:srgbClr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7128253" y="5233540"/>
            <a:ext cx="478129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Homogeneous</a:t>
            </a: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 processor assumption (equal speed and capability) simplifies real-world complexity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6772151" y="6516119"/>
            <a:ext cx="189995" cy="189995"/>
            <a:chOff x="0" y="0"/>
            <a:chExt cx="253327" cy="25332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07B39">
                <a:alpha val="35686"/>
              </a:srgbClr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E07B39">
                <a:alpha val="35686"/>
              </a:srgbClr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7128253" y="6385684"/>
            <a:ext cx="478129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No task preemption, so long-running tasks cannot be interrupted or rescheduled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6772151" y="7668263"/>
            <a:ext cx="189995" cy="189995"/>
            <a:chOff x="0" y="0"/>
            <a:chExt cx="253327" cy="25332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07B39">
                <a:alpha val="35686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E07B39">
                <a:alpha val="35686"/>
              </a:srgbClr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7128253" y="7537828"/>
            <a:ext cx="478129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Static b</a:t>
            </a: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atch model — does not support dynamic task arrivals or real-time scheduling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2404855" y="2035559"/>
            <a:ext cx="5639819" cy="7742939"/>
            <a:chOff x="0" y="0"/>
            <a:chExt cx="7519759" cy="1032391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7485888" cy="10290048"/>
            </a:xfrm>
            <a:custGeom>
              <a:avLst/>
              <a:gdLst/>
              <a:ahLst/>
              <a:cxnLst/>
              <a:rect r="r" b="b" t="t" l="l"/>
              <a:pathLst>
                <a:path h="10290048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10290048"/>
                  </a:lnTo>
                  <a:lnTo>
                    <a:pt x="0" y="10290048"/>
                  </a:lnTo>
                  <a:close/>
                </a:path>
              </a:pathLst>
            </a:custGeom>
            <a:solidFill>
              <a:srgbClr val="12122A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519670" cy="10323830"/>
            </a:xfrm>
            <a:custGeom>
              <a:avLst/>
              <a:gdLst/>
              <a:ahLst/>
              <a:cxnLst/>
              <a:rect r="r" b="b" t="t" l="l"/>
              <a:pathLst>
                <a:path h="10323830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10306939"/>
                  </a:lnTo>
                  <a:cubicBezTo>
                    <a:pt x="7519670" y="10316337"/>
                    <a:pt x="7512050" y="10323830"/>
                    <a:pt x="7502779" y="10323830"/>
                  </a:cubicBezTo>
                  <a:lnTo>
                    <a:pt x="16891" y="10323830"/>
                  </a:lnTo>
                  <a:cubicBezTo>
                    <a:pt x="7493" y="10323830"/>
                    <a:pt x="0" y="10316210"/>
                    <a:pt x="0" y="103069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306939"/>
                  </a:lnTo>
                  <a:lnTo>
                    <a:pt x="16891" y="10306939"/>
                  </a:lnTo>
                  <a:lnTo>
                    <a:pt x="16891" y="10290048"/>
                  </a:lnTo>
                  <a:lnTo>
                    <a:pt x="7502779" y="10290048"/>
                  </a:lnTo>
                  <a:lnTo>
                    <a:pt x="7502779" y="10306939"/>
                  </a:lnTo>
                  <a:lnTo>
                    <a:pt x="7485888" y="10306939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44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404855" y="2035559"/>
            <a:ext cx="5639819" cy="98555"/>
            <a:chOff x="0" y="0"/>
            <a:chExt cx="7519759" cy="13140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7485888" cy="97536"/>
            </a:xfrm>
            <a:custGeom>
              <a:avLst/>
              <a:gdLst/>
              <a:ahLst/>
              <a:cxnLst/>
              <a:rect r="r" b="b" t="t" l="l"/>
              <a:pathLst>
                <a:path h="97536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6A4BB5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519670" cy="131320"/>
            </a:xfrm>
            <a:custGeom>
              <a:avLst/>
              <a:gdLst/>
              <a:ahLst/>
              <a:cxnLst/>
              <a:rect r="r" b="b" t="t" l="l"/>
              <a:pathLst>
                <a:path h="131320" w="7519670">
                  <a:moveTo>
                    <a:pt x="16891" y="0"/>
                  </a:moveTo>
                  <a:lnTo>
                    <a:pt x="7502779" y="0"/>
                  </a:lnTo>
                  <a:cubicBezTo>
                    <a:pt x="7512177" y="0"/>
                    <a:pt x="7519670" y="7620"/>
                    <a:pt x="7519670" y="16891"/>
                  </a:cubicBezTo>
                  <a:lnTo>
                    <a:pt x="7519670" y="114427"/>
                  </a:lnTo>
                  <a:cubicBezTo>
                    <a:pt x="7519670" y="123825"/>
                    <a:pt x="7512050" y="131318"/>
                    <a:pt x="7502779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7502779" y="97536"/>
                  </a:lnTo>
                  <a:lnTo>
                    <a:pt x="7502779" y="114427"/>
                  </a:lnTo>
                  <a:lnTo>
                    <a:pt x="7485888" y="114427"/>
                  </a:lnTo>
                  <a:lnTo>
                    <a:pt x="7485888" y="16891"/>
                  </a:lnTo>
                  <a:lnTo>
                    <a:pt x="7502779" y="16891"/>
                  </a:lnTo>
                  <a:lnTo>
                    <a:pt x="7502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4BB5"/>
            </a:solid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12724381" y="2243833"/>
            <a:ext cx="5055613" cy="48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6A4BB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Work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660887" y="3059687"/>
            <a:ext cx="189995" cy="189995"/>
            <a:chOff x="0" y="0"/>
            <a:chExt cx="253327" cy="25332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6A4BB5">
                <a:alpha val="35686"/>
              </a:srgbClr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6A4BB5">
                <a:alpha val="35686"/>
              </a:srgbClr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3016989" y="2929252"/>
            <a:ext cx="478129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 w</a:t>
            </a: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ork-stealing scheduling for dynamic load balancing across processors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2660887" y="4211831"/>
            <a:ext cx="189995" cy="189995"/>
            <a:chOff x="0" y="0"/>
            <a:chExt cx="253327" cy="25332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6A4BB5">
                <a:alpha val="35686"/>
              </a:srgbClr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6A4BB5">
                <a:alpha val="35686"/>
              </a:srgbClr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13016989" y="4081396"/>
            <a:ext cx="478129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Extend to h</a:t>
            </a: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eterogeneous systems with speed-aware task allocation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2660887" y="5363975"/>
            <a:ext cx="189995" cy="189995"/>
            <a:chOff x="0" y="0"/>
            <a:chExt cx="253327" cy="25332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6A4BB5">
                <a:alpha val="35686"/>
              </a:srgbClr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6A4BB5">
                <a:alpha val="35686"/>
              </a:srgbClr>
            </a:solid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13016989" y="5233540"/>
            <a:ext cx="478129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Evalu</a:t>
            </a: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ate using real-world DAG benchmarks (e.g., PARSEC, SPLASH-2) 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2660887" y="6516119"/>
            <a:ext cx="189995" cy="189995"/>
            <a:chOff x="0" y="0"/>
            <a:chExt cx="253327" cy="25332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6A4BB5">
                <a:alpha val="35686"/>
              </a:srgbClr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6A4BB5">
                <a:alpha val="35686"/>
              </a:srgbClr>
            </a:solid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13016989" y="6385684"/>
            <a:ext cx="478129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Apply m</a:t>
            </a: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achine learning models to predict optimal scheduling strategy per workload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2660887" y="7668263"/>
            <a:ext cx="189995" cy="189995"/>
            <a:chOff x="0" y="0"/>
            <a:chExt cx="253327" cy="25332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6A4BB5">
                <a:alpha val="35686"/>
              </a:srgbClr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6A4BB5">
                <a:alpha val="35686"/>
              </a:srgbClr>
            </a:solid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13016989" y="7537828"/>
            <a:ext cx="4781293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sz="2100">
                <a:solidFill>
                  <a:srgbClr val="AAAACC"/>
                </a:solidFill>
                <a:latin typeface="Calibri (MS)"/>
                <a:ea typeface="Calibri (MS)"/>
                <a:cs typeface="Calibri (MS)"/>
                <a:sym typeface="Calibri (MS)"/>
              </a:rPr>
              <a:t>evelop distributed scheduling (MPI + OpenMP hybrid) for large-scale systems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914400" y="9692640"/>
            <a:ext cx="16642080" cy="512064"/>
            <a:chOff x="0" y="0"/>
            <a:chExt cx="22189440" cy="6827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22189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4444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Parallel Task Scheduler  ·  C++ &amp; OpenMP  ·  Thapar University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DAHIHISVZp4</dc:identifier>
  <dcterms:modified xsi:type="dcterms:W3CDTF">2011-08-01T06:04:30Z</dcterms:modified>
  <cp:revision>1</cp:revision>
  <dc:title>Parallel_Scheduler_Presentation.pptx</dc:title>
</cp:coreProperties>
</file>